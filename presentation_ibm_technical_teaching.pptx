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talk track:
Set the frame: this is the Dynamo architecture portion of a larger session. Seth is covering the end-to-end inferencing path and Zeb is covering KV cache internals, so this deck intentionally stays at the system architecture level.
Use a simple framing: Dynamo is the orchestration layer that helps a fleet of GPUs behave like one coordinated LLM inference system. The sales-team value is not memorizing every component. It is understanding why a customer with serious generative AI serving traffic would care: lower latency, better GPU utilization, and more predictable scaling.
Primary sources used: user notes from the uploaded CTO presentation PDF; NVIDIA Dynamo documentation and developer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Dynamo is the distributed runtime/orchestration layer around LLM inference. Most people will know vLLM or TensorRT-LLM as the thing that actually executes the model. Dynamo does not replace those engines in a simplistic way. It can coordinate with engines such as vLLM, TensorRT-LLM, and SGLang, while adding cluster-level routing, memory management, data movement, and scaling behavior.
Avoid going too far into token generation. The audience only needs enough context to understand that one request may use multiple GPU roles and that state has to move or be reused.
Source URLs for speaker notes: https://developer.nvidia.com/dynamo and https://docs.nvidia.com/dynamo/design-docs/overall-architecture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easiest way to explain the need is to contrast generic compute scheduling with LLM-native serving. Kubernetes can place pods and balance generic compute, but it does not inherently understand that LLM inference has two different phases with different bottlenecks, or that a prior context can be reused if the request lands near the right cached state.
Dynamo exists because LLM serving is not just “put a model behind an API.” At scale, the system has to decide where to run each phase, how to avoid wasted recomputation, and how to keep memory from becoming the limiter.
Keep this slide high-level. The detailed prompt-to-token mechanics and KV-cache internals are handled in separate presentations.
Source URLs: https://docs.nvidia.com/dynamo/design-docs/overall-architecture and https://docs.nvidia.com/dynamo/getting-started/introduction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official NVIDIA “How Dynamo Works” diagram. Walk through it quickly from top to bottom. The API Server accepts incoming requests in common API patterns. The Smart Router is the first key architectural component because it decides where work should run based on load and cache-awareness. Below that, Dynamo supports disaggregated serving with prefill workers and decode workers. On the side, the Planner monitors performance and adjusts capacity. On the right and bottom, KVBM and NIXL manage the state and data movement needed to make distributed serving practical.
Do not read every label. The message is that Dynamo is a coordinated runtime with three planes: request path, control path, and state/memory path.
Source image URL: https://developer.download.nvidia.com/images/how-it-works.jpg
Source page: https://developer.nvidia.com/dynamo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slide is the main mental model. It prevents the audience from getting lost in component names. The request path is what happens for a live request. The control path is what the system does continuously in the background. The state path is how Dynamo knows where useful model state lives and how to move or offload it.
For sales: this helps explain why Dynamo is more than an inference engine. An engine runs math efficiently. Dynamo coordinates request placement, capacity changes, and memory state across multiple engines and workers.
Source URL: https://docs.nvidia.com/dynamo/design-docs/overall-architecture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a single request, keep the story simple: client to frontend, frontend to router, router to workers, response streams back. The important new thing is not that there is an API server. The important new thing is that routing is aware of LLM-specific state.
The router is not “AI” in the sense of a model making decisions. It is using placement logic, metrics and metadata. It looks at load and also at whether a worker already has useful cached state. If the same state is already on a GPU, the system may prefer that route to avoid recomputing. If another worker is a better fit, Dynamo can also move state.
Avoid a detailed explanation of what KV cache contains. Use “reusable context state” if the audience is not familiar.
Source URLs: https://docs.nvidia.com/dynamo/design-docs/overall-architecture and https://developer.nvidia.com/dynamo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where it is tempting to go deep into inference mechanics. Do not. The only point needed here is that the two phases have different resource profiles. Prefill is often compute-heavy because the input context can be processed with lots of parallel math. Decode is more latency-sensitive and repeatedly interacts with cached state while tokens are produced.
Dynamo’s disaggregated serving lets the system run these roles on different worker pools and scale the pools independently. If many users send long prompts, the system may need more prefill capacity. If many generations are in progress, decode becomes the pressure point.
The transfer step between phases is worth it at scale because it can improve overall GPU utilization and throughput across many requests.
Source URLs: https://docs.nvidia.com/dynamo/getting-started/introduction and https://docs.nvidia.com/dynamo/design-docs/overall-architecture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KVBM stands for KV Block Manager. For this audience, explain it as the memory-management layer for the reusable state generated during inference. It is important because the state may be too large to keep only in GPU memory, and because different workers may need access to it.
The KVBM architecture has three logical layers: backend runtimes and connectors on top, KVBM core logic in the middle, and NIXL/data-transfer/storage integration underneath. This lets Dynamo support engines such as vLLM, TensorRT-LLM and SGLang while decoupling memory management from those engines.
Stay high-level. Do not explain the tensor layout or detailed KV block structure. The sales takeaway: KVBM lets Dynamo treat memory as a managed, distributed resource instead of a hidden local detail inside each GPU worker.
Source URL: https://docs.nvidia.com/dynamo/v-0-8-1/components/kvbm/architecture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NIXL is the transport layer in this story. If KVBM is the memory manager, NIXL is the engine that moves the blocks across GPUs, nodes and storage tiers. This matters because disaggregated serving creates a practical problem: prefill may happen on one worker and decode on another, so state has to move quickly.
Do not position NIXL as a generic network overlay. It is specifically important in Dynamo because it handles the data movement needed for KV cache transfer, offload and remote access patterns.
Sales translation: NIXL helps Dynamo get the benefits of splitting work and managing memory without letting data movement erase the gains.
Source URLs: https://docs.nvidia.com/dynamo/v-0-8-1/components/kvbm/architecture and https://developer.nvidia.com/dynamo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Planner is the autoscaling/controller side of Dynamo. It watches metrics and makes capacity recommendations or actions. NVIDIA’s docs describe throughput-based and load-based scaling loops: one is more predictive for sustained load, and one can react more quickly to current pressure.
For the IBM sales team, keep the message simple: workloads change. Static pools make either latency or cost worse. Dynamo has a control path that can adjust the number and type of workers based on what the workload is doing.
This is similar in spirit to autoscaling, but Dynamo’s key differentiation is that it is LLM-aware: it understands prefill/decode roles, queue pressure, and cache-hit behavior rather than treating every request as a generic stateless job.
Source URL: https://docs.nvidia.com/dynamo/design-docs/component-design/planner-design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slide answers the common “Dynamo versus vLLM” question. vLLM, TensorRT-LLM and SGLang are inference engines/backends. They are deeply important because they actually run the model. Dynamo sits around and above them to coordinate distributed serving.
A useful phrase: vLLM is great at the engine level; Dynamo is about fleet-level orchestration. Dynamo can use vLLM as a backend while adding smart routing, disaggregated serving, KVBM, NIXL and planner behavior.
Do not imply that vLLM is weak or obsolete. The cleaner point is that these layers solve different problems. For a small single-node deployment, an engine may be enough. For multi-node production serving where latency, utilization and memory pressure matter together, Dynamo becomes relevant.
Source URLs: https://developer.nvidia.com/dynamo and https://docs.nvidia.com/dynamo/design-docs/overall-architecture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Use this slide carefully because deployment mode details may vary by customer environment and Dynamo version. The high-level point is that Dynamo is not limited to a toy deployment. It has paths for direct standalone usage and Kubernetes-native deployment. In larger stacks, components like routing, KV management and NIXL-style data movement can be part of a broader inference platform story.
The third column is intentionally worded as “platform layer” rather than an absolute product boundary. LLM-D is relevant to mention because your notes call it out, but avoid overcommitting on exact integration details unless the team has a current IBM/NVIDIA reference architecture.
I left a placeholder note on the slide for a customer-specific architecture image. If the presenter has an IBM-approved reference architecture, it should be inserted there.
Source URLs: https://docs.nvidia.com/dynamo/design-docs/overall-architecture and https://developer.nvidia.com/dynamo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DynoSim is useful for the sales/solution-design conversation because it moves the discussion from “let’s guess a topology” to “let’s simulate candidates, then validate the shortlist.”
NVIDIA describes DynoSim as a simulation stack for exploring serving configurations before validating them on real clusters. It connects workload-driven simulation runs, configuration sweeps, mocker engine behavior, Planner simulation, Router simulation and timing models into one workflow.
Be explicit about what it does not do: it is not running the real model math and it is not producing real outputs. The value is narrowing the design space and understanding sensitivity to worker split, queue pressure, startup, routing and cache behavior before spending production GPU time.
Source URL: https://docs.nvidia.com/dynamo/user-guides/dynosim/overview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slide turns architecture into sales listening cues. Customers may not ask for Dynamo by name. They are more likely to describe pain: latency spikes, underutilized GPUs, memory pressure from long contexts, or difficulty scaling a vLLM-style deployment beyond a simple cluster.
Use the positioning line: Dynamo is relevant when a customer is moving from a model server to an inference platform. It helps coordinate request routing, worker roles, memory state and data movement across a GPU fleet.
Do not overstate results or promise exact performance improvements without benchmarking. The architecture creates the conditions for better throughput, latency stability and GPU efficiency, but actual performance depends on model, hardware, traffic pattern and deployment choices.
Sources: user notes and NVIDIA Dynamo documentation. Also include current IBM/NVIDIA validated benchmarks if the sales team has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talk track:
Recap the three paths. If the audience remembers one thing, it should be that Dynamo coordinates LLM inference across a cluster by combining routing, disaggregated serving, memory management and data movement.
Use the handoff line to connect to the session structure without duplicating the other presentations.
Source URLs used across deck:
- User notes: CTO presentation PDF uploaded in this session
- NVIDIA developer page: https://developer.nvidia.com/dynamo
- Overall architecture: https://docs.nvidia.com/dynamo/design-docs/overall-architecture
- KVBM architecture: https://docs.nvidia.com/dynamo/v-0-8-1/components/kvbm/architecture
- Planner design: https://docs.nvidia.com/dynamo/design-docs/component-design/planner-design
- DynoSim: https://docs.nvidia.com/dynamo/user-guides/dynosim/overview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6"/>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2FE"/>
          </a:solidFill>
          <a:ln w="12700">
            <a:solidFill>
              <a:srgbClr val="0F62FE"/>
            </a:solidFill>
            <a:prstDash val="solid"/>
          </a:ln>
        </p:spPr>
      </p:sp>
      <p:sp>
        <p:nvSpPr>
          <p:cNvPr id="3" name="Shape 1"/>
          <p:cNvSpPr/>
          <p:nvPr/>
        </p:nvSpPr>
        <p:spPr>
          <a:xfrm>
            <a:off x="0" y="109728"/>
            <a:ext cx="12191695" cy="73152"/>
          </a:xfrm>
          <a:prstGeom prst="rect">
            <a:avLst/>
          </a:prstGeom>
          <a:solidFill>
            <a:srgbClr val="BAE6FF"/>
          </a:solidFill>
          <a:ln w="12700">
            <a:solidFill>
              <a:srgbClr val="BAE6FF"/>
            </a:solidFill>
            <a:prstDash val="solid"/>
          </a:ln>
        </p:spPr>
      </p:sp>
      <p:sp>
        <p:nvSpPr>
          <p:cNvPr id="4" name="Text 2"/>
          <p:cNvSpPr/>
          <p:nvPr/>
        </p:nvSpPr>
        <p:spPr>
          <a:xfrm>
            <a:off x="566928" y="3886200"/>
            <a:ext cx="2011680" cy="292608"/>
          </a:xfrm>
          <a:prstGeom prst="rect">
            <a:avLst/>
          </a:prstGeom>
          <a:noFill/>
          <a:ln/>
        </p:spPr>
        <p:txBody>
          <a:bodyPr wrap="square" lIns="635" tIns="635" rIns="635" bIns="635" rtlCol="0" anchor="t">
            <a:normAutofit/>
          </a:bodyPr>
          <a:lstStyle/>
          <a:p>
            <a:pPr algn="l" indent="0" marL="0">
              <a:buNone/>
            </a:pPr>
            <a:r>
              <a:rPr lang="en-US" sz="1000" dirty="0">
                <a:solidFill>
                  <a:srgbClr val="FFFFFF"/>
                </a:solidFill>
                <a:latin typeface="Aptos" pitchFamily="34" charset="0"/>
                <a:ea typeface="Aptos" pitchFamily="34" charset="-122"/>
                <a:cs typeface="Aptos" pitchFamily="34" charset="-120"/>
              </a:rPr>
              <a:t>Overview of</a:t>
            </a:r>
            <a:endParaRPr lang="en-US" sz="1000" dirty="0"/>
          </a:p>
        </p:txBody>
      </p:sp>
      <p:sp>
        <p:nvSpPr>
          <p:cNvPr id="5" name="Text 3"/>
          <p:cNvSpPr/>
          <p:nvPr/>
        </p:nvSpPr>
        <p:spPr>
          <a:xfrm>
            <a:off x="566928" y="4480560"/>
            <a:ext cx="5120640" cy="1143000"/>
          </a:xfrm>
          <a:prstGeom prst="rect">
            <a:avLst/>
          </a:prstGeom>
          <a:noFill/>
          <a:ln/>
        </p:spPr>
        <p:txBody>
          <a:bodyPr wrap="square" lIns="0" tIns="0" rIns="0" bIns="0" rtlCol="0" anchor="ctr">
            <a:normAutofit/>
          </a:bodyPr>
          <a:lstStyle/>
          <a:p>
            <a:pPr indent="0" marL="0">
              <a:buNone/>
            </a:pPr>
            <a:r>
              <a:rPr lang="en-US" sz="3700" dirty="0">
                <a:solidFill>
                  <a:srgbClr val="FFFFFF"/>
                </a:solidFill>
                <a:latin typeface="Aptos" pitchFamily="34" charset="0"/>
                <a:ea typeface="Aptos" pitchFamily="34" charset="-122"/>
                <a:cs typeface="Aptos" pitchFamily="34" charset="-120"/>
              </a:rPr>
              <a:t>NVIDIA</a:t>
            </a:r>
            <a:endParaRPr lang="en-US" sz="3700" dirty="0"/>
          </a:p>
          <a:p>
            <a:pPr indent="0" marL="0">
              <a:buNone/>
            </a:pPr>
            <a:r>
              <a:rPr lang="en-US" sz="3700" dirty="0">
                <a:solidFill>
                  <a:srgbClr val="FFFFFF"/>
                </a:solidFill>
                <a:latin typeface="Aptos" pitchFamily="34" charset="0"/>
                <a:ea typeface="Aptos" pitchFamily="34" charset="-122"/>
                <a:cs typeface="Aptos" pitchFamily="34" charset="-120"/>
              </a:rPr>
              <a:t>Dynamo</a:t>
            </a:r>
            <a:endParaRPr lang="en-US" sz="3700" dirty="0"/>
          </a:p>
        </p:txBody>
      </p:sp>
      <p:sp>
        <p:nvSpPr>
          <p:cNvPr id="6" name="Text 4"/>
          <p:cNvSpPr/>
          <p:nvPr/>
        </p:nvSpPr>
        <p:spPr>
          <a:xfrm>
            <a:off x="566928" y="5650992"/>
            <a:ext cx="5669280" cy="347472"/>
          </a:xfrm>
          <a:prstGeom prst="rect">
            <a:avLst/>
          </a:prstGeom>
          <a:noFill/>
          <a:ln/>
        </p:spPr>
        <p:txBody>
          <a:bodyPr wrap="square" lIns="635" tIns="635" rIns="635" bIns="635" rtlCol="0" anchor="t">
            <a:normAutofit/>
          </a:bodyPr>
          <a:lstStyle/>
          <a:p>
            <a:pPr algn="l" indent="0" marL="0">
              <a:buNone/>
            </a:pPr>
            <a:r>
              <a:rPr lang="en-US" sz="1500" dirty="0">
                <a:solidFill>
                  <a:srgbClr val="BAE6FF"/>
                </a:solidFill>
                <a:latin typeface="Aptos" pitchFamily="34" charset="0"/>
                <a:ea typeface="Aptos" pitchFamily="34" charset="-122"/>
                <a:cs typeface="Aptos" pitchFamily="34" charset="-120"/>
              </a:rPr>
              <a:t>Architecture-focused enablement for IBM sales</a:t>
            </a:r>
            <a:endParaRPr lang="en-US" sz="1500" dirty="0"/>
          </a:p>
        </p:txBody>
      </p:sp>
      <p:sp>
        <p:nvSpPr>
          <p:cNvPr id="7" name="Text 5"/>
          <p:cNvSpPr/>
          <p:nvPr/>
        </p:nvSpPr>
        <p:spPr>
          <a:xfrm>
            <a:off x="8412480" y="6016752"/>
            <a:ext cx="3108960" cy="292608"/>
          </a:xfrm>
          <a:prstGeom prst="rect">
            <a:avLst/>
          </a:prstGeom>
          <a:noFill/>
          <a:ln/>
        </p:spPr>
        <p:txBody>
          <a:bodyPr wrap="square" lIns="635" tIns="635" rIns="635" bIns="635" rtlCol="0" anchor="t">
            <a:normAutofit/>
          </a:bodyPr>
          <a:lstStyle/>
          <a:p>
            <a:pPr algn="r" indent="0" marL="0">
              <a:buNone/>
            </a:pPr>
            <a:r>
              <a:rPr lang="en-US" sz="850" dirty="0">
                <a:solidFill>
                  <a:srgbClr val="FFFFFF"/>
                </a:solidFill>
                <a:latin typeface="Aptos" pitchFamily="34" charset="0"/>
                <a:ea typeface="Aptos" pitchFamily="34" charset="-122"/>
                <a:cs typeface="Aptos" pitchFamily="34" charset="-120"/>
              </a:rPr>
              <a:t>Prepared for IBM technical sellers</a:t>
            </a:r>
            <a:endParaRPr lang="en-US" sz="850" dirty="0"/>
          </a:p>
        </p:txBody>
      </p:sp>
      <p:sp>
        <p:nvSpPr>
          <p:cNvPr id="8" name="Text 6"/>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FFFFFF"/>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9" name="Text 7"/>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FFFFFF"/>
                </a:solidFill>
                <a:latin typeface="Aptos" pitchFamily="34" charset="0"/>
                <a:ea typeface="Aptos" pitchFamily="34" charset="-122"/>
                <a:cs typeface="Aptos" pitchFamily="34" charset="-120"/>
              </a:rPr>
              <a:t>1</a:t>
            </a:r>
            <a:endParaRPr lang="en-US" sz="650" dirty="0"/>
          </a:p>
        </p:txBody>
      </p:sp>
      <p:sp>
        <p:nvSpPr>
          <p:cNvPr id="10" name="Text 8"/>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FFFFFF"/>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Executive framing</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Dynamo is the layer above the inference engine</a:t>
            </a:r>
            <a:endParaRPr lang="en-US" sz="3000" dirty="0"/>
          </a:p>
        </p:txBody>
      </p:sp>
      <p:sp>
        <p:nvSpPr>
          <p:cNvPr id="4" name="Text 2"/>
          <p:cNvSpPr/>
          <p:nvPr/>
        </p:nvSpPr>
        <p:spPr>
          <a:xfrm>
            <a:off x="658368" y="1828800"/>
            <a:ext cx="4892040" cy="1143000"/>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It turns many GPUs into a coordinated inference system.</a:t>
            </a:r>
            <a:endParaRPr lang="en-US" sz="3000" dirty="0"/>
          </a:p>
        </p:txBody>
      </p:sp>
      <p:sp>
        <p:nvSpPr>
          <p:cNvPr id="5" name="Text 3"/>
          <p:cNvSpPr/>
          <p:nvPr/>
        </p:nvSpPr>
        <p:spPr>
          <a:xfrm>
            <a:off x="713232" y="3337560"/>
            <a:ext cx="4892040" cy="160020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Aptos" pitchFamily="34" charset="0"/>
                <a:ea typeface="Aptos" pitchFamily="34" charset="-122"/>
                <a:cs typeface="Aptos" pitchFamily="34" charset="-120"/>
              </a:rPr>
              <a:t>• Not a model and not just a single-node serving engine</a:t>
            </a:r>
            <a:endParaRPr lang="en-US" sz="1700" dirty="0"/>
          </a:p>
          <a:p>
            <a:pPr indent="0" marL="0">
              <a:buNone/>
            </a:pPr>
            <a:r>
              <a:rPr lang="en-US" sz="1700" dirty="0">
                <a:solidFill>
                  <a:srgbClr val="000000"/>
                </a:solidFill>
                <a:latin typeface="Aptos" pitchFamily="34" charset="0"/>
                <a:ea typeface="Aptos" pitchFamily="34" charset="-122"/>
                <a:cs typeface="Aptos" pitchFamily="34" charset="-120"/>
              </a:rPr>
              <a:t>• Coordinates requests, workers, memory state and data movement</a:t>
            </a:r>
            <a:endParaRPr lang="en-US" sz="1700" dirty="0"/>
          </a:p>
          <a:p>
            <a:pPr indent="0" marL="0">
              <a:buNone/>
            </a:pPr>
            <a:r>
              <a:rPr lang="en-US" sz="1700" dirty="0">
                <a:solidFill>
                  <a:srgbClr val="000000"/>
                </a:solidFill>
                <a:latin typeface="Aptos" pitchFamily="34" charset="0"/>
                <a:ea typeface="Aptos" pitchFamily="34" charset="-122"/>
                <a:cs typeface="Aptos" pitchFamily="34" charset="-120"/>
              </a:rPr>
              <a:t>• Built for multi-node, high-throughput, low-latency LLM serving</a:t>
            </a:r>
            <a:endParaRPr lang="en-US" sz="1700" dirty="0"/>
          </a:p>
        </p:txBody>
      </p:sp>
      <p:sp>
        <p:nvSpPr>
          <p:cNvPr id="6" name="Shape 4"/>
          <p:cNvSpPr/>
          <p:nvPr/>
        </p:nvSpPr>
        <p:spPr>
          <a:xfrm>
            <a:off x="6949440" y="2926080"/>
            <a:ext cx="1005840" cy="0"/>
          </a:xfrm>
          <a:prstGeom prst="line">
            <a:avLst/>
          </a:prstGeom>
          <a:noFill/>
          <a:ln w="19050">
            <a:solidFill>
              <a:srgbClr val="0F62FE"/>
            </a:solidFill>
            <a:prstDash val="solid"/>
            <a:headEnd type="none"/>
            <a:tailEnd type="triangle"/>
          </a:ln>
        </p:spPr>
      </p:sp>
      <p:sp>
        <p:nvSpPr>
          <p:cNvPr id="7" name="Shape 5"/>
          <p:cNvSpPr/>
          <p:nvPr/>
        </p:nvSpPr>
        <p:spPr>
          <a:xfrm>
            <a:off x="8869680" y="2926080"/>
            <a:ext cx="1005840" cy="0"/>
          </a:xfrm>
          <a:prstGeom prst="line">
            <a:avLst/>
          </a:prstGeom>
          <a:noFill/>
          <a:ln w="19050">
            <a:solidFill>
              <a:srgbClr val="0F62FE"/>
            </a:solidFill>
            <a:prstDash val="solid"/>
            <a:headEnd type="none"/>
            <a:tailEnd type="triangle"/>
          </a:ln>
        </p:spPr>
      </p:sp>
      <p:sp>
        <p:nvSpPr>
          <p:cNvPr id="8" name="Shape 6"/>
          <p:cNvSpPr/>
          <p:nvPr/>
        </p:nvSpPr>
        <p:spPr>
          <a:xfrm>
            <a:off x="10789920" y="2926080"/>
            <a:ext cx="411480" cy="0"/>
          </a:xfrm>
          <a:prstGeom prst="line">
            <a:avLst/>
          </a:prstGeom>
          <a:noFill/>
          <a:ln w="19050">
            <a:solidFill>
              <a:srgbClr val="0F62FE"/>
            </a:solidFill>
            <a:prstDash val="solid"/>
            <a:headEnd type="none"/>
            <a:tailEnd type="triangle"/>
          </a:ln>
        </p:spPr>
      </p:sp>
      <p:sp>
        <p:nvSpPr>
          <p:cNvPr id="9" name="Text 7"/>
          <p:cNvSpPr/>
          <p:nvPr/>
        </p:nvSpPr>
        <p:spPr>
          <a:xfrm>
            <a:off x="5989320" y="2331720"/>
            <a:ext cx="1417320" cy="1170432"/>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Inference</a:t>
            </a:r>
            <a:endParaRPr lang="en-US" sz="1000" dirty="0"/>
          </a:p>
          <a:p>
            <a:pPr algn="ctr" indent="0" marL="0">
              <a:buNone/>
            </a:pPr>
            <a:r>
              <a:rPr lang="en-US" sz="1000" b="1" dirty="0">
                <a:solidFill>
                  <a:srgbClr val="000000"/>
                </a:solidFill>
                <a:latin typeface="Aptos" pitchFamily="34" charset="0"/>
                <a:ea typeface="Aptos" pitchFamily="34" charset="-122"/>
                <a:cs typeface="Aptos" pitchFamily="34" charset="-120"/>
              </a:rPr>
              <a:t>engine</a:t>
            </a:r>
            <a:endParaRPr lang="en-US" sz="1000" dirty="0"/>
          </a:p>
          <a:p>
            <a:pPr algn="ctr" indent="0" marL="0">
              <a:buNone/>
            </a:pPr>
            <a:r>
              <a:rPr lang="en-US" sz="1000" b="1" dirty="0">
                <a:solidFill>
                  <a:srgbClr val="000000"/>
                </a:solidFill>
                <a:latin typeface="Aptos" pitchFamily="34" charset="0"/>
                <a:ea typeface="Aptos" pitchFamily="34" charset="-122"/>
                <a:cs typeface="Aptos" pitchFamily="34" charset="-120"/>
              </a:rPr>
              <a:t>(vLLM, TRT-LLM)</a:t>
            </a:r>
            <a:endParaRPr lang="en-US" sz="1000" dirty="0"/>
          </a:p>
        </p:txBody>
      </p:sp>
      <p:sp>
        <p:nvSpPr>
          <p:cNvPr id="10" name="Text 8"/>
          <p:cNvSpPr/>
          <p:nvPr/>
        </p:nvSpPr>
        <p:spPr>
          <a:xfrm>
            <a:off x="7772400" y="2240280"/>
            <a:ext cx="1783080" cy="1353312"/>
          </a:xfrm>
          <a:prstGeom prst="roundRect">
            <a:avLst/>
          </a:prstGeom>
          <a:solidFill>
            <a:srgbClr val="E5F6FF"/>
          </a:solidFill>
          <a:ln w="15240">
            <a:solidFill>
              <a:srgbClr val="0F62FE"/>
            </a:solidFill>
          </a:ln>
        </p:spPr>
        <p:txBody>
          <a:bodyPr wrap="square" lIns="635" tIns="635" rIns="635" bIns="635" rtlCol="0" anchor="ctr">
            <a:normAutofit/>
          </a:bodyPr>
          <a:lstStyle/>
          <a:p>
            <a:pPr algn="ctr" indent="0" marL="0">
              <a:buNone/>
            </a:pPr>
            <a:r>
              <a:rPr lang="en-US" sz="1200" b="1" dirty="0">
                <a:solidFill>
                  <a:srgbClr val="000000"/>
                </a:solidFill>
                <a:latin typeface="Aptos" pitchFamily="34" charset="0"/>
                <a:ea typeface="Aptos" pitchFamily="34" charset="-122"/>
                <a:cs typeface="Aptos" pitchFamily="34" charset="-120"/>
              </a:rPr>
              <a:t>Dynamo</a:t>
            </a:r>
            <a:endParaRPr lang="en-US" sz="1200" dirty="0"/>
          </a:p>
          <a:p>
            <a:pPr algn="ctr" indent="0" marL="0">
              <a:buNone/>
            </a:pPr>
            <a:r>
              <a:rPr lang="en-US" sz="1200" b="1" dirty="0">
                <a:solidFill>
                  <a:srgbClr val="000000"/>
                </a:solidFill>
                <a:latin typeface="Aptos" pitchFamily="34" charset="0"/>
                <a:ea typeface="Aptos" pitchFamily="34" charset="-122"/>
                <a:cs typeface="Aptos" pitchFamily="34" charset="-120"/>
              </a:rPr>
              <a:t>orchestration</a:t>
            </a:r>
            <a:endParaRPr lang="en-US" sz="1200" dirty="0"/>
          </a:p>
        </p:txBody>
      </p:sp>
      <p:sp>
        <p:nvSpPr>
          <p:cNvPr id="11" name="Text 9"/>
          <p:cNvSpPr/>
          <p:nvPr/>
        </p:nvSpPr>
        <p:spPr>
          <a:xfrm>
            <a:off x="9875520" y="2331720"/>
            <a:ext cx="1417320" cy="1170432"/>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GPU</a:t>
            </a:r>
            <a:endParaRPr lang="en-US" sz="1000" dirty="0"/>
          </a:p>
          <a:p>
            <a:pPr algn="ctr" indent="0" marL="0">
              <a:buNone/>
            </a:pPr>
            <a:r>
              <a:rPr lang="en-US" sz="1000" b="1" dirty="0">
                <a:solidFill>
                  <a:srgbClr val="000000"/>
                </a:solidFill>
                <a:latin typeface="Aptos" pitchFamily="34" charset="0"/>
                <a:ea typeface="Aptos" pitchFamily="34" charset="-122"/>
                <a:cs typeface="Aptos" pitchFamily="34" charset="-120"/>
              </a:rPr>
              <a:t>cluster</a:t>
            </a:r>
            <a:endParaRPr lang="en-US" sz="1000" dirty="0"/>
          </a:p>
        </p:txBody>
      </p:sp>
      <p:sp>
        <p:nvSpPr>
          <p:cNvPr id="12" name="Text 10"/>
          <p:cNvSpPr/>
          <p:nvPr/>
        </p:nvSpPr>
        <p:spPr>
          <a:xfrm>
            <a:off x="11292840" y="2331720"/>
            <a:ext cx="749808" cy="1170432"/>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900" b="1" dirty="0">
                <a:solidFill>
                  <a:srgbClr val="000000"/>
                </a:solidFill>
                <a:latin typeface="Aptos" pitchFamily="34" charset="0"/>
                <a:ea typeface="Aptos" pitchFamily="34" charset="-122"/>
                <a:cs typeface="Aptos" pitchFamily="34" charset="-120"/>
              </a:rPr>
              <a:t>Enterprise</a:t>
            </a:r>
            <a:endParaRPr lang="en-US" sz="900" dirty="0"/>
          </a:p>
          <a:p>
            <a:pPr algn="ctr" indent="0" marL="0">
              <a:buNone/>
            </a:pPr>
            <a:r>
              <a:rPr lang="en-US" sz="900" b="1" dirty="0">
                <a:solidFill>
                  <a:srgbClr val="000000"/>
                </a:solidFill>
                <a:latin typeface="Aptos" pitchFamily="34" charset="0"/>
                <a:ea typeface="Aptos" pitchFamily="34" charset="-122"/>
                <a:cs typeface="Aptos" pitchFamily="34" charset="-120"/>
              </a:rPr>
              <a:t>AI app</a:t>
            </a:r>
            <a:endParaRPr lang="en-US" sz="900" dirty="0"/>
          </a:p>
        </p:txBody>
      </p:sp>
      <p:sp>
        <p:nvSpPr>
          <p:cNvPr id="13" name="Text 11"/>
          <p:cNvSpPr/>
          <p:nvPr/>
        </p:nvSpPr>
        <p:spPr>
          <a:xfrm>
            <a:off x="6080760" y="3931920"/>
            <a:ext cx="5852160" cy="438912"/>
          </a:xfrm>
          <a:prstGeom prst="rect">
            <a:avLst/>
          </a:prstGeom>
          <a:noFill/>
          <a:ln/>
        </p:spPr>
        <p:txBody>
          <a:bodyPr wrap="square" lIns="0" tIns="0" rIns="0" bIns="0" rtlCol="0" anchor="ctr">
            <a:normAutofit/>
          </a:bodyPr>
          <a:lstStyle/>
          <a:p>
            <a:pPr algn="ctr" indent="0" marL="0">
              <a:buNone/>
            </a:pPr>
            <a:r>
              <a:rPr lang="en-US" sz="1100" dirty="0">
                <a:solidFill>
                  <a:srgbClr val="525252"/>
                </a:solidFill>
                <a:latin typeface="Aptos" pitchFamily="34" charset="0"/>
                <a:ea typeface="Aptos" pitchFamily="34" charset="-122"/>
                <a:cs typeface="Aptos" pitchFamily="34" charset="-120"/>
              </a:rPr>
              <a:t>Dynamo sits between the API-facing service and the GPU fleet, coordinating the engines underneath.</a:t>
            </a:r>
            <a:endParaRPr lang="en-US" sz="1100" dirty="0"/>
          </a:p>
        </p:txBody>
      </p:sp>
      <p:sp>
        <p:nvSpPr>
          <p:cNvPr id="14" name="Text 12"/>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5" name="Text 13"/>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2</a:t>
            </a:r>
            <a:endParaRPr lang="en-US" sz="650" dirty="0"/>
          </a:p>
        </p:txBody>
      </p:sp>
      <p:sp>
        <p:nvSpPr>
          <p:cNvPr id="16" name="Text 14"/>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Why customers need it</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LLM serving bottlenecks are system problems</a:t>
            </a:r>
            <a:endParaRPr lang="en-US" sz="3000" dirty="0"/>
          </a:p>
        </p:txBody>
      </p:sp>
      <p:sp>
        <p:nvSpPr>
          <p:cNvPr id="4" name="Text 2"/>
          <p:cNvSpPr/>
          <p:nvPr/>
        </p:nvSpPr>
        <p:spPr>
          <a:xfrm>
            <a:off x="658368" y="1664208"/>
            <a:ext cx="5166360" cy="2148840"/>
          </a:xfrm>
          <a:prstGeom prst="rect">
            <a:avLst/>
          </a:prstGeom>
          <a:noFill/>
          <a:ln/>
        </p:spPr>
        <p:txBody>
          <a:bodyPr wrap="square" lIns="254" tIns="254" rIns="254" bIns="254" rtlCol="0" anchor="t">
            <a:normAutofit/>
          </a:bodyPr>
          <a:lstStyle/>
          <a:p>
            <a:pPr indent="0" marL="0">
              <a:buNone/>
            </a:pPr>
            <a:r>
              <a:rPr lang="en-US" sz="1550" dirty="0">
                <a:solidFill>
                  <a:srgbClr val="000000"/>
                </a:solidFill>
                <a:latin typeface="Aptos" pitchFamily="34" charset="0"/>
                <a:ea typeface="Aptos" pitchFamily="34" charset="-122"/>
                <a:cs typeface="Aptos" pitchFamily="34" charset="-120"/>
              </a:rPr>
              <a:t>• Traffic is bursty: short prompts, long prompts and long generations mix together</a:t>
            </a:r>
            <a:endParaRPr lang="en-US" sz="1550" dirty="0"/>
          </a:p>
          <a:p>
            <a:pPr indent="0" marL="0">
              <a:buNone/>
            </a:pPr>
            <a:r>
              <a:rPr lang="en-US" sz="1550" dirty="0">
                <a:solidFill>
                  <a:srgbClr val="000000"/>
                </a:solidFill>
                <a:latin typeface="Aptos" pitchFamily="34" charset="0"/>
                <a:ea typeface="Aptos" pitchFamily="34" charset="-122"/>
                <a:cs typeface="Aptos" pitchFamily="34" charset="-120"/>
              </a:rPr>
              <a:t>• Static GPU pools waste capacity when prefill and decode demand shift</a:t>
            </a:r>
            <a:endParaRPr lang="en-US" sz="1550" dirty="0"/>
          </a:p>
          <a:p>
            <a:pPr indent="0" marL="0">
              <a:buNone/>
            </a:pPr>
            <a:r>
              <a:rPr lang="en-US" sz="1550" dirty="0">
                <a:solidFill>
                  <a:srgbClr val="000000"/>
                </a:solidFill>
                <a:latin typeface="Aptos" pitchFamily="34" charset="0"/>
                <a:ea typeface="Aptos" pitchFamily="34" charset="-122"/>
                <a:cs typeface="Aptos" pitchFamily="34" charset="-120"/>
              </a:rPr>
              <a:t>• Repeated context work increases first-token latency and burns compute</a:t>
            </a:r>
            <a:endParaRPr lang="en-US" sz="1550" dirty="0"/>
          </a:p>
          <a:p>
            <a:pPr indent="0" marL="0">
              <a:buNone/>
            </a:pPr>
            <a:r>
              <a:rPr lang="en-US" sz="1550" dirty="0">
                <a:solidFill>
                  <a:srgbClr val="000000"/>
                </a:solidFill>
                <a:latin typeface="Aptos" pitchFamily="34" charset="0"/>
                <a:ea typeface="Aptos" pitchFamily="34" charset="-122"/>
                <a:cs typeface="Aptos" pitchFamily="34" charset="-120"/>
              </a:rPr>
              <a:t>• Long-context workloads push past GPU memory limits</a:t>
            </a:r>
            <a:endParaRPr lang="en-US" sz="1550" dirty="0"/>
          </a:p>
        </p:txBody>
      </p:sp>
      <p:sp>
        <p:nvSpPr>
          <p:cNvPr id="5" name="Text 3"/>
          <p:cNvSpPr/>
          <p:nvPr/>
        </p:nvSpPr>
        <p:spPr>
          <a:xfrm>
            <a:off x="6446520" y="1481328"/>
            <a:ext cx="1965960" cy="868680"/>
          </a:xfrm>
          <a:prstGeom prst="roundRect">
            <a:avLst/>
          </a:prstGeom>
          <a:solidFill>
            <a:srgbClr val="F4F4F4"/>
          </a:solidFill>
          <a:ln w="15240">
            <a:solidFill>
              <a:srgbClr val="A8A8A8"/>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Generic serving</a:t>
            </a:r>
            <a:endParaRPr lang="en-US" sz="1100" dirty="0"/>
          </a:p>
          <a:p>
            <a:pPr algn="ctr" indent="0" marL="0">
              <a:buNone/>
            </a:pPr>
            <a:r>
              <a:rPr lang="en-US" sz="1100" b="1" dirty="0">
                <a:solidFill>
                  <a:srgbClr val="000000"/>
                </a:solidFill>
                <a:latin typeface="Aptos" pitchFamily="34" charset="0"/>
                <a:ea typeface="Aptos" pitchFamily="34" charset="-122"/>
                <a:cs typeface="Aptos" pitchFamily="34" charset="-120"/>
              </a:rPr>
              <a:t>“run it anywhere”</a:t>
            </a:r>
            <a:endParaRPr lang="en-US" sz="1100" dirty="0"/>
          </a:p>
        </p:txBody>
      </p:sp>
      <p:sp>
        <p:nvSpPr>
          <p:cNvPr id="6" name="Text 4"/>
          <p:cNvSpPr/>
          <p:nvPr/>
        </p:nvSpPr>
        <p:spPr>
          <a:xfrm>
            <a:off x="9125712" y="1298448"/>
            <a:ext cx="2331720" cy="1234440"/>
          </a:xfrm>
          <a:prstGeom prst="roundRect">
            <a:avLst/>
          </a:prstGeom>
          <a:solidFill>
            <a:srgbClr val="E5F6FF"/>
          </a:solidFill>
          <a:ln w="15240">
            <a:solidFill>
              <a:srgbClr val="0F62FE"/>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LLM-native serving</a:t>
            </a:r>
            <a:endParaRPr lang="en-US" sz="1100" dirty="0"/>
          </a:p>
          <a:p>
            <a:pPr algn="ctr" indent="0" marL="0">
              <a:buNone/>
            </a:pPr>
            <a:r>
              <a:rPr lang="en-US" sz="1100" b="1" dirty="0">
                <a:solidFill>
                  <a:srgbClr val="000000"/>
                </a:solidFill>
                <a:latin typeface="Aptos" pitchFamily="34" charset="0"/>
                <a:ea typeface="Aptos" pitchFamily="34" charset="-122"/>
                <a:cs typeface="Aptos" pitchFamily="34" charset="-120"/>
              </a:rPr>
              <a:t>“run it where state + capacity fit”</a:t>
            </a:r>
            <a:endParaRPr lang="en-US" sz="1100" dirty="0"/>
          </a:p>
        </p:txBody>
      </p:sp>
      <p:sp>
        <p:nvSpPr>
          <p:cNvPr id="7" name="Shape 5"/>
          <p:cNvSpPr/>
          <p:nvPr/>
        </p:nvSpPr>
        <p:spPr>
          <a:xfrm>
            <a:off x="8458200" y="1920240"/>
            <a:ext cx="594360" cy="0"/>
          </a:xfrm>
          <a:prstGeom prst="line">
            <a:avLst/>
          </a:prstGeom>
          <a:noFill/>
          <a:ln w="20320">
            <a:solidFill>
              <a:srgbClr val="0F62FE"/>
            </a:solidFill>
            <a:prstDash val="solid"/>
            <a:headEnd type="none"/>
            <a:tailEnd type="triangle"/>
          </a:ln>
        </p:spPr>
      </p:sp>
      <p:sp>
        <p:nvSpPr>
          <p:cNvPr id="8" name="Text 6"/>
          <p:cNvSpPr/>
          <p:nvPr/>
        </p:nvSpPr>
        <p:spPr>
          <a:xfrm>
            <a:off x="6446520" y="3200400"/>
            <a:ext cx="5010912" cy="347472"/>
          </a:xfrm>
          <a:prstGeom prst="rect">
            <a:avLst/>
          </a:prstGeom>
          <a:solidFill>
            <a:srgbClr val="BAE6FF"/>
          </a:solidFill>
          <a:ln>
            <a:solidFill>
              <a:srgbClr val="BAE6FF"/>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Dynamo architectural response</a:t>
            </a:r>
            <a:endParaRPr lang="en-US" sz="1050" dirty="0"/>
          </a:p>
        </p:txBody>
      </p:sp>
      <p:sp>
        <p:nvSpPr>
          <p:cNvPr id="9" name="Text 7"/>
          <p:cNvSpPr/>
          <p:nvPr/>
        </p:nvSpPr>
        <p:spPr>
          <a:xfrm>
            <a:off x="6446520" y="3794760"/>
            <a:ext cx="1481328" cy="1097280"/>
          </a:xfrm>
          <a:prstGeom prst="rect">
            <a:avLst/>
          </a:prstGeom>
          <a:solidFill>
            <a:srgbClr val="F4F4F4"/>
          </a:solidFill>
          <a:ln w="12700">
            <a:solidFill>
              <a:srgbClr val="E0E0E0"/>
            </a:solidFill>
          </a:ln>
        </p:spPr>
        <p:txBody>
          <a:bodyPr wrap="square" lIns="1524" tIns="1524" rIns="1524" bIns="1524" rtlCol="0" anchor="t">
            <a:normAutofit/>
          </a:bodyPr>
          <a:lstStyle/>
          <a:p>
            <a:pPr indent="0" marL="0">
              <a:buNone/>
            </a:pPr>
            <a:r>
              <a:rPr lang="en-US" sz="1050" dirty="0">
                <a:solidFill>
                  <a:srgbClr val="000000"/>
                </a:solidFill>
                <a:latin typeface="Aptos" pitchFamily="34" charset="0"/>
                <a:ea typeface="Aptos" pitchFamily="34" charset="-122"/>
                <a:cs typeface="Aptos" pitchFamily="34" charset="-120"/>
              </a:rPr>
              <a:t>Separate roles</a:t>
            </a:r>
            <a:endParaRPr lang="en-US" sz="1050" dirty="0"/>
          </a:p>
          <a:p>
            <a:pPr indent="0" marL="0">
              <a:buNone/>
            </a:pPr>
            <a:r>
              <a:rPr lang="en-US" sz="1050" dirty="0">
                <a:solidFill>
                  <a:srgbClr val="000000"/>
                </a:solidFill>
                <a:latin typeface="Aptos" pitchFamily="34" charset="0"/>
                <a:ea typeface="Aptos" pitchFamily="34" charset="-122"/>
                <a:cs typeface="Aptos" pitchFamily="34" charset="-120"/>
              </a:rPr>
              <a:t>Scale prefill and decode independently</a:t>
            </a:r>
            <a:endParaRPr lang="en-US" sz="1050" dirty="0"/>
          </a:p>
        </p:txBody>
      </p:sp>
      <p:sp>
        <p:nvSpPr>
          <p:cNvPr id="10" name="Text 8"/>
          <p:cNvSpPr/>
          <p:nvPr/>
        </p:nvSpPr>
        <p:spPr>
          <a:xfrm>
            <a:off x="8156448" y="3794760"/>
            <a:ext cx="1481328" cy="1097280"/>
          </a:xfrm>
          <a:prstGeom prst="rect">
            <a:avLst/>
          </a:prstGeom>
          <a:solidFill>
            <a:srgbClr val="F4F4F4"/>
          </a:solidFill>
          <a:ln w="12700">
            <a:solidFill>
              <a:srgbClr val="E0E0E0"/>
            </a:solidFill>
          </a:ln>
        </p:spPr>
        <p:txBody>
          <a:bodyPr wrap="square" lIns="1524" tIns="1524" rIns="1524" bIns="1524" rtlCol="0" anchor="t">
            <a:normAutofit/>
          </a:bodyPr>
          <a:lstStyle/>
          <a:p>
            <a:pPr indent="0" marL="0">
              <a:buNone/>
            </a:pPr>
            <a:r>
              <a:rPr lang="en-US" sz="1050" dirty="0">
                <a:solidFill>
                  <a:srgbClr val="000000"/>
                </a:solidFill>
                <a:latin typeface="Aptos" pitchFamily="34" charset="0"/>
                <a:ea typeface="Aptos" pitchFamily="34" charset="-122"/>
                <a:cs typeface="Aptos" pitchFamily="34" charset="-120"/>
              </a:rPr>
              <a:t>Route by state</a:t>
            </a:r>
            <a:endParaRPr lang="en-US" sz="1050" dirty="0"/>
          </a:p>
          <a:p>
            <a:pPr indent="0" marL="0">
              <a:buNone/>
            </a:pPr>
            <a:r>
              <a:rPr lang="en-US" sz="1050" dirty="0">
                <a:solidFill>
                  <a:srgbClr val="000000"/>
                </a:solidFill>
                <a:latin typeface="Aptos" pitchFamily="34" charset="0"/>
                <a:ea typeface="Aptos" pitchFamily="34" charset="-122"/>
                <a:cs typeface="Aptos" pitchFamily="34" charset="-120"/>
              </a:rPr>
              <a:t>Prefer workers with useful KV state</a:t>
            </a:r>
            <a:endParaRPr lang="en-US" sz="1050" dirty="0"/>
          </a:p>
        </p:txBody>
      </p:sp>
      <p:sp>
        <p:nvSpPr>
          <p:cNvPr id="11" name="Text 9"/>
          <p:cNvSpPr/>
          <p:nvPr/>
        </p:nvSpPr>
        <p:spPr>
          <a:xfrm>
            <a:off x="9866376" y="3794760"/>
            <a:ext cx="1481328" cy="1097280"/>
          </a:xfrm>
          <a:prstGeom prst="rect">
            <a:avLst/>
          </a:prstGeom>
          <a:solidFill>
            <a:srgbClr val="F4F4F4"/>
          </a:solidFill>
          <a:ln w="12700">
            <a:solidFill>
              <a:srgbClr val="E0E0E0"/>
            </a:solidFill>
          </a:ln>
        </p:spPr>
        <p:txBody>
          <a:bodyPr wrap="square" lIns="1524" tIns="1524" rIns="1524" bIns="1524" rtlCol="0" anchor="t">
            <a:normAutofit/>
          </a:bodyPr>
          <a:lstStyle/>
          <a:p>
            <a:pPr indent="0" marL="0">
              <a:buNone/>
            </a:pPr>
            <a:r>
              <a:rPr lang="en-US" sz="1050" dirty="0">
                <a:solidFill>
                  <a:srgbClr val="000000"/>
                </a:solidFill>
                <a:latin typeface="Aptos" pitchFamily="34" charset="0"/>
                <a:ea typeface="Aptos" pitchFamily="34" charset="-122"/>
                <a:cs typeface="Aptos" pitchFamily="34" charset="-120"/>
              </a:rPr>
              <a:t>Manage memory</a:t>
            </a:r>
            <a:endParaRPr lang="en-US" sz="1050" dirty="0"/>
          </a:p>
          <a:p>
            <a:pPr indent="0" marL="0">
              <a:buNone/>
            </a:pPr>
            <a:r>
              <a:rPr lang="en-US" sz="1050" dirty="0">
                <a:solidFill>
                  <a:srgbClr val="000000"/>
                </a:solidFill>
                <a:latin typeface="Aptos" pitchFamily="34" charset="0"/>
                <a:ea typeface="Aptos" pitchFamily="34" charset="-122"/>
                <a:cs typeface="Aptos" pitchFamily="34" charset="-120"/>
              </a:rPr>
              <a:t>Move cache across faster and cheaper tiers</a:t>
            </a:r>
            <a:endParaRPr lang="en-US" sz="1050" dirty="0"/>
          </a:p>
        </p:txBody>
      </p:sp>
      <p:sp>
        <p:nvSpPr>
          <p:cNvPr id="12" name="Text 10"/>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3" name="Text 11"/>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3</a:t>
            </a:r>
            <a:endParaRPr lang="en-US" sz="650" dirty="0"/>
          </a:p>
        </p:txBody>
      </p:sp>
      <p:sp>
        <p:nvSpPr>
          <p:cNvPr id="14" name="Text 12"/>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Official NVIDIA view</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Architecture at a glance</a:t>
            </a:r>
            <a:endParaRPr lang="en-US" sz="3000" dirty="0"/>
          </a:p>
        </p:txBody>
      </p:sp>
      <p:pic>
        <p:nvPicPr>
          <p:cNvPr id="4" name="Image 0" descr="/mnt/data/how-it-works.jpg">    </p:cNvPr>
          <p:cNvPicPr>
            <a:picLocks noChangeAspect="1"/>
          </p:cNvPicPr>
          <p:nvPr/>
        </p:nvPicPr>
        <p:blipFill>
          <a:blip r:embed="rId1"/>
          <a:stretch>
            <a:fillRect/>
          </a:stretch>
        </p:blipFill>
        <p:spPr>
          <a:xfrm>
            <a:off x="685800" y="1554480"/>
            <a:ext cx="10835640" cy="4251960"/>
          </a:xfrm>
          <a:prstGeom prst="rect">
            <a:avLst/>
          </a:prstGeom>
        </p:spPr>
      </p:pic>
      <p:sp>
        <p:nvSpPr>
          <p:cNvPr id="5" name="Text 2"/>
          <p:cNvSpPr/>
          <p:nvPr/>
        </p:nvSpPr>
        <p:spPr>
          <a:xfrm>
            <a:off x="685800" y="5989320"/>
            <a:ext cx="10835640" cy="320040"/>
          </a:xfrm>
          <a:prstGeom prst="rect">
            <a:avLst/>
          </a:prstGeom>
          <a:noFill/>
          <a:ln/>
        </p:spPr>
        <p:txBody>
          <a:bodyPr wrap="square" lIns="635" tIns="635" rIns="635" bIns="635" rtlCol="0" anchor="t">
            <a:normAutofit/>
          </a:bodyPr>
          <a:lstStyle/>
          <a:p>
            <a:pPr algn="l" indent="0" marL="0">
              <a:buNone/>
            </a:pPr>
            <a:r>
              <a:rPr lang="en-US" sz="1200" dirty="0">
                <a:solidFill>
                  <a:srgbClr val="525252"/>
                </a:solidFill>
                <a:latin typeface="Aptos" pitchFamily="34" charset="0"/>
                <a:ea typeface="Aptos" pitchFamily="34" charset="-122"/>
                <a:cs typeface="Aptos" pitchFamily="34" charset="-120"/>
              </a:rPr>
              <a:t>Reading the diagram: API server + router decide placement; specialized workers run the model; KVBM and NIXL keep state usable across the fleet.</a:t>
            </a:r>
            <a:endParaRPr lang="en-US" sz="1200" dirty="0"/>
          </a:p>
        </p:txBody>
      </p:sp>
      <p:sp>
        <p:nvSpPr>
          <p:cNvPr id="6" name="Text 3"/>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7" name="Text 4"/>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4</a:t>
            </a:r>
            <a:endParaRPr lang="en-US" sz="650" dirty="0"/>
          </a:p>
        </p:txBody>
      </p:sp>
      <p:sp>
        <p:nvSpPr>
          <p:cNvPr id="8" name="Text 5"/>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Mental model</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Think of Dynamo as three cooperating paths</a:t>
            </a:r>
            <a:endParaRPr lang="en-US" sz="3000" dirty="0"/>
          </a:p>
        </p:txBody>
      </p:sp>
      <p:sp>
        <p:nvSpPr>
          <p:cNvPr id="4" name="Shape 2"/>
          <p:cNvSpPr/>
          <p:nvPr/>
        </p:nvSpPr>
        <p:spPr>
          <a:xfrm>
            <a:off x="2240280" y="2743200"/>
            <a:ext cx="1554480" cy="0"/>
          </a:xfrm>
          <a:prstGeom prst="line">
            <a:avLst/>
          </a:prstGeom>
          <a:noFill/>
          <a:ln w="17780">
            <a:solidFill>
              <a:srgbClr val="0F62FE"/>
            </a:solidFill>
            <a:prstDash val="solid"/>
            <a:headEnd type="none"/>
            <a:tailEnd type="triangle"/>
          </a:ln>
        </p:spPr>
      </p:sp>
      <p:sp>
        <p:nvSpPr>
          <p:cNvPr id="5" name="Shape 3"/>
          <p:cNvSpPr/>
          <p:nvPr/>
        </p:nvSpPr>
        <p:spPr>
          <a:xfrm>
            <a:off x="5577840" y="2743200"/>
            <a:ext cx="1554480" cy="0"/>
          </a:xfrm>
          <a:prstGeom prst="line">
            <a:avLst/>
          </a:prstGeom>
          <a:noFill/>
          <a:ln w="17780">
            <a:solidFill>
              <a:srgbClr val="0F62FE"/>
            </a:solidFill>
            <a:prstDash val="solid"/>
            <a:headEnd type="none"/>
            <a:tailEnd type="triangle"/>
          </a:ln>
        </p:spPr>
      </p:sp>
      <p:sp>
        <p:nvSpPr>
          <p:cNvPr id="6" name="Shape 4"/>
          <p:cNvSpPr/>
          <p:nvPr/>
        </p:nvSpPr>
        <p:spPr>
          <a:xfrm>
            <a:off x="8915400" y="2743200"/>
            <a:ext cx="1554480" cy="0"/>
          </a:xfrm>
          <a:prstGeom prst="line">
            <a:avLst/>
          </a:prstGeom>
          <a:noFill/>
          <a:ln w="17780">
            <a:solidFill>
              <a:srgbClr val="0F62FE"/>
            </a:solidFill>
            <a:prstDash val="solid"/>
            <a:headEnd type="none"/>
            <a:tailEnd type="triangle"/>
          </a:ln>
        </p:spPr>
      </p:sp>
      <p:sp>
        <p:nvSpPr>
          <p:cNvPr id="7" name="Text 5"/>
          <p:cNvSpPr/>
          <p:nvPr/>
        </p:nvSpPr>
        <p:spPr>
          <a:xfrm>
            <a:off x="731520" y="2057400"/>
            <a:ext cx="1874520" cy="1371600"/>
          </a:xfrm>
          <a:prstGeom prst="roundRect">
            <a:avLst/>
          </a:prstGeom>
          <a:solidFill>
            <a:srgbClr val="E5F6FF"/>
          </a:solidFill>
          <a:ln w="15240">
            <a:solidFill>
              <a:srgbClr val="0F62FE"/>
            </a:solidFill>
          </a:ln>
        </p:spPr>
        <p:txBody>
          <a:bodyPr wrap="square" lIns="635" tIns="635" rIns="635" bIns="635" rtlCol="0" anchor="ctr">
            <a:normAutofit/>
          </a:bodyPr>
          <a:lstStyle/>
          <a:p>
            <a:pPr algn="ctr" indent="0" marL="0">
              <a:buNone/>
            </a:pPr>
            <a:r>
              <a:rPr lang="en-US" sz="1400" b="1" dirty="0">
                <a:solidFill>
                  <a:srgbClr val="000000"/>
                </a:solidFill>
                <a:latin typeface="Aptos" pitchFamily="34" charset="0"/>
                <a:ea typeface="Aptos" pitchFamily="34" charset="-122"/>
                <a:cs typeface="Aptos" pitchFamily="34" charset="-120"/>
              </a:rPr>
              <a:t>Request path</a:t>
            </a:r>
            <a:endParaRPr lang="en-US" sz="1400" dirty="0"/>
          </a:p>
          <a:p>
            <a:pPr algn="ctr" indent="0" marL="0">
              <a:buNone/>
            </a:pPr>
            <a:r>
              <a:rPr lang="en-US" sz="1400" b="1" dirty="0">
                <a:solidFill>
                  <a:srgbClr val="000000"/>
                </a:solidFill>
                <a:latin typeface="Aptos" pitchFamily="34" charset="0"/>
                <a:ea typeface="Aptos" pitchFamily="34" charset="-122"/>
                <a:cs typeface="Aptos" pitchFamily="34" charset="-120"/>
              </a:rPr>
              <a:t>serving</a:t>
            </a:r>
            <a:endParaRPr lang="en-US" sz="1400" dirty="0"/>
          </a:p>
        </p:txBody>
      </p:sp>
      <p:sp>
        <p:nvSpPr>
          <p:cNvPr id="8" name="Text 6"/>
          <p:cNvSpPr/>
          <p:nvPr/>
        </p:nvSpPr>
        <p:spPr>
          <a:xfrm>
            <a:off x="4023360" y="2057400"/>
            <a:ext cx="2057400" cy="1371600"/>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400" b="1" dirty="0">
                <a:solidFill>
                  <a:srgbClr val="000000"/>
                </a:solidFill>
                <a:latin typeface="Aptos" pitchFamily="34" charset="0"/>
                <a:ea typeface="Aptos" pitchFamily="34" charset="-122"/>
                <a:cs typeface="Aptos" pitchFamily="34" charset="-120"/>
              </a:rPr>
              <a:t>Control path</a:t>
            </a:r>
            <a:endParaRPr lang="en-US" sz="1400" dirty="0"/>
          </a:p>
          <a:p>
            <a:pPr algn="ctr" indent="0" marL="0">
              <a:buNone/>
            </a:pPr>
            <a:r>
              <a:rPr lang="en-US" sz="1400" b="1" dirty="0">
                <a:solidFill>
                  <a:srgbClr val="000000"/>
                </a:solidFill>
                <a:latin typeface="Aptos" pitchFamily="34" charset="0"/>
                <a:ea typeface="Aptos" pitchFamily="34" charset="-122"/>
                <a:cs typeface="Aptos" pitchFamily="34" charset="-120"/>
              </a:rPr>
              <a:t>orchestration</a:t>
            </a:r>
            <a:endParaRPr lang="en-US" sz="1400" dirty="0"/>
          </a:p>
        </p:txBody>
      </p:sp>
      <p:sp>
        <p:nvSpPr>
          <p:cNvPr id="9" name="Text 7"/>
          <p:cNvSpPr/>
          <p:nvPr/>
        </p:nvSpPr>
        <p:spPr>
          <a:xfrm>
            <a:off x="7360920" y="2057400"/>
            <a:ext cx="2057400" cy="1371600"/>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400" b="1" dirty="0">
                <a:solidFill>
                  <a:srgbClr val="000000"/>
                </a:solidFill>
                <a:latin typeface="Aptos" pitchFamily="34" charset="0"/>
                <a:ea typeface="Aptos" pitchFamily="34" charset="-122"/>
                <a:cs typeface="Aptos" pitchFamily="34" charset="-120"/>
              </a:rPr>
              <a:t>State path</a:t>
            </a:r>
            <a:endParaRPr lang="en-US" sz="1400" dirty="0"/>
          </a:p>
          <a:p>
            <a:pPr algn="ctr" indent="0" marL="0">
              <a:buNone/>
            </a:pPr>
            <a:r>
              <a:rPr lang="en-US" sz="1400" b="1" dirty="0">
                <a:solidFill>
                  <a:srgbClr val="000000"/>
                </a:solidFill>
                <a:latin typeface="Aptos" pitchFamily="34" charset="0"/>
                <a:ea typeface="Aptos" pitchFamily="34" charset="-122"/>
                <a:cs typeface="Aptos" pitchFamily="34" charset="-120"/>
              </a:rPr>
              <a:t>KV / memory</a:t>
            </a:r>
            <a:endParaRPr lang="en-US" sz="1400" dirty="0"/>
          </a:p>
        </p:txBody>
      </p:sp>
      <p:sp>
        <p:nvSpPr>
          <p:cNvPr id="10" name="Text 8"/>
          <p:cNvSpPr/>
          <p:nvPr/>
        </p:nvSpPr>
        <p:spPr>
          <a:xfrm>
            <a:off x="10168128" y="2057400"/>
            <a:ext cx="1508760" cy="1371600"/>
          </a:xfrm>
          <a:prstGeom prst="roundRect">
            <a:avLst/>
          </a:prstGeom>
          <a:solidFill>
            <a:srgbClr val="F4F4F4"/>
          </a:solidFill>
          <a:ln w="15240">
            <a:solidFill>
              <a:srgbClr val="A8A8A8"/>
            </a:solidFill>
          </a:ln>
        </p:spPr>
        <p:txBody>
          <a:bodyPr wrap="square" lIns="635" tIns="635" rIns="635" bIns="635" rtlCol="0" anchor="ctr">
            <a:normAutofit/>
          </a:bodyPr>
          <a:lstStyle/>
          <a:p>
            <a:pPr algn="ctr" indent="0" marL="0">
              <a:buNone/>
            </a:pPr>
            <a:r>
              <a:rPr lang="en-US" sz="1200" b="1" dirty="0">
                <a:solidFill>
                  <a:srgbClr val="000000"/>
                </a:solidFill>
                <a:latin typeface="Aptos" pitchFamily="34" charset="0"/>
                <a:ea typeface="Aptos" pitchFamily="34" charset="-122"/>
                <a:cs typeface="Aptos" pitchFamily="34" charset="-120"/>
              </a:rPr>
              <a:t>One logical</a:t>
            </a:r>
            <a:endParaRPr lang="en-US" sz="1200" dirty="0"/>
          </a:p>
          <a:p>
            <a:pPr algn="ctr" indent="0" marL="0">
              <a:buNone/>
            </a:pPr>
            <a:r>
              <a:rPr lang="en-US" sz="1200" b="1" dirty="0">
                <a:solidFill>
                  <a:srgbClr val="000000"/>
                </a:solidFill>
                <a:latin typeface="Aptos" pitchFamily="34" charset="0"/>
                <a:ea typeface="Aptos" pitchFamily="34" charset="-122"/>
                <a:cs typeface="Aptos" pitchFamily="34" charset="-120"/>
              </a:rPr>
              <a:t>inference service</a:t>
            </a:r>
            <a:endParaRPr lang="en-US" sz="1200" dirty="0"/>
          </a:p>
        </p:txBody>
      </p:sp>
      <p:sp>
        <p:nvSpPr>
          <p:cNvPr id="11" name="Text 9"/>
          <p:cNvSpPr/>
          <p:nvPr/>
        </p:nvSpPr>
        <p:spPr>
          <a:xfrm>
            <a:off x="914400" y="4251960"/>
            <a:ext cx="10287000" cy="1097280"/>
          </a:xfrm>
          <a:prstGeom prst="rect">
            <a:avLst/>
          </a:prstGeom>
          <a:noFill/>
          <a:ln/>
        </p:spPr>
        <p:txBody>
          <a:bodyPr wrap="square" lIns="254" tIns="254" rIns="254" bIns="254" rtlCol="0" anchor="t">
            <a:normAutofit/>
          </a:bodyPr>
          <a:lstStyle/>
          <a:p>
            <a:pPr indent="0" marL="0">
              <a:buNone/>
            </a:pPr>
            <a:r>
              <a:rPr lang="en-US" sz="1500" dirty="0">
                <a:solidFill>
                  <a:srgbClr val="000000"/>
                </a:solidFill>
                <a:latin typeface="Aptos" pitchFamily="34" charset="0"/>
                <a:ea typeface="Aptos" pitchFamily="34" charset="-122"/>
                <a:cs typeface="Aptos" pitchFamily="34" charset="-120"/>
              </a:rPr>
              <a:t>• Request path: keeps each user request moving through routing and worker execution</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Control path: watches load, latency and capacity, then adapts placement/scaling</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State path: tracks, transfers and reuses the KV state that makes routing valuable</a:t>
            </a:r>
            <a:endParaRPr lang="en-US" sz="1500" dirty="0"/>
          </a:p>
        </p:txBody>
      </p:sp>
      <p:sp>
        <p:nvSpPr>
          <p:cNvPr id="12" name="Text 10"/>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3" name="Text 11"/>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5</a:t>
            </a:r>
            <a:endParaRPr lang="en-US" sz="650" dirty="0"/>
          </a:p>
        </p:txBody>
      </p:sp>
      <p:sp>
        <p:nvSpPr>
          <p:cNvPr id="14" name="Text 12"/>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Request path</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The router makes placement LLM-aware</a:t>
            </a:r>
            <a:endParaRPr lang="en-US" sz="3000" dirty="0"/>
          </a:p>
        </p:txBody>
      </p:sp>
      <p:sp>
        <p:nvSpPr>
          <p:cNvPr id="4" name="Shape 2"/>
          <p:cNvSpPr/>
          <p:nvPr/>
        </p:nvSpPr>
        <p:spPr>
          <a:xfrm>
            <a:off x="2194560" y="2834640"/>
            <a:ext cx="868680" cy="0"/>
          </a:xfrm>
          <a:prstGeom prst="line">
            <a:avLst/>
          </a:prstGeom>
          <a:noFill/>
          <a:ln w="19050">
            <a:solidFill>
              <a:srgbClr val="0F62FE"/>
            </a:solidFill>
            <a:prstDash val="solid"/>
            <a:headEnd type="none"/>
            <a:tailEnd type="triangle"/>
          </a:ln>
        </p:spPr>
      </p:sp>
      <p:sp>
        <p:nvSpPr>
          <p:cNvPr id="5" name="Shape 3"/>
          <p:cNvSpPr/>
          <p:nvPr/>
        </p:nvSpPr>
        <p:spPr>
          <a:xfrm>
            <a:off x="4572000" y="2834640"/>
            <a:ext cx="868680" cy="0"/>
          </a:xfrm>
          <a:prstGeom prst="line">
            <a:avLst/>
          </a:prstGeom>
          <a:noFill/>
          <a:ln w="19050">
            <a:solidFill>
              <a:srgbClr val="0F62FE"/>
            </a:solidFill>
            <a:prstDash val="solid"/>
            <a:headEnd type="none"/>
            <a:tailEnd type="triangle"/>
          </a:ln>
        </p:spPr>
      </p:sp>
      <p:sp>
        <p:nvSpPr>
          <p:cNvPr id="6" name="Shape 4"/>
          <p:cNvSpPr/>
          <p:nvPr/>
        </p:nvSpPr>
        <p:spPr>
          <a:xfrm>
            <a:off x="6949440" y="2834640"/>
            <a:ext cx="868680" cy="0"/>
          </a:xfrm>
          <a:prstGeom prst="line">
            <a:avLst/>
          </a:prstGeom>
          <a:noFill/>
          <a:ln w="19050">
            <a:solidFill>
              <a:srgbClr val="0F62FE"/>
            </a:solidFill>
            <a:prstDash val="solid"/>
            <a:headEnd type="none"/>
            <a:tailEnd type="triangle"/>
          </a:ln>
        </p:spPr>
      </p:sp>
      <p:sp>
        <p:nvSpPr>
          <p:cNvPr id="7" name="Shape 5"/>
          <p:cNvSpPr/>
          <p:nvPr/>
        </p:nvSpPr>
        <p:spPr>
          <a:xfrm>
            <a:off x="9326880" y="2834640"/>
            <a:ext cx="868680" cy="0"/>
          </a:xfrm>
          <a:prstGeom prst="line">
            <a:avLst/>
          </a:prstGeom>
          <a:noFill/>
          <a:ln w="19050">
            <a:solidFill>
              <a:srgbClr val="0F62FE"/>
            </a:solidFill>
            <a:prstDash val="solid"/>
            <a:headEnd type="none"/>
            <a:tailEnd type="triangle"/>
          </a:ln>
        </p:spPr>
      </p:sp>
      <p:sp>
        <p:nvSpPr>
          <p:cNvPr id="8" name="Text 6"/>
          <p:cNvSpPr/>
          <p:nvPr/>
        </p:nvSpPr>
        <p:spPr>
          <a:xfrm>
            <a:off x="685800" y="2331720"/>
            <a:ext cx="1645920" cy="1005840"/>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Client / app</a:t>
            </a:r>
            <a:endParaRPr lang="en-US" sz="1100" dirty="0"/>
          </a:p>
        </p:txBody>
      </p:sp>
      <p:sp>
        <p:nvSpPr>
          <p:cNvPr id="9" name="Text 7"/>
          <p:cNvSpPr/>
          <p:nvPr/>
        </p:nvSpPr>
        <p:spPr>
          <a:xfrm>
            <a:off x="2926080" y="2240280"/>
            <a:ext cx="1783080" cy="1188720"/>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Frontend</a:t>
            </a:r>
            <a:endParaRPr lang="en-US" sz="1100" dirty="0"/>
          </a:p>
          <a:p>
            <a:pPr algn="ctr" indent="0" marL="0">
              <a:buNone/>
            </a:pPr>
            <a:r>
              <a:rPr lang="en-US" sz="1100" b="1" dirty="0">
                <a:solidFill>
                  <a:srgbClr val="000000"/>
                </a:solidFill>
                <a:latin typeface="Aptos" pitchFamily="34" charset="0"/>
                <a:ea typeface="Aptos" pitchFamily="34" charset="-122"/>
                <a:cs typeface="Aptos" pitchFamily="34" charset="-120"/>
              </a:rPr>
              <a:t>API entry</a:t>
            </a:r>
            <a:endParaRPr lang="en-US" sz="1100" dirty="0"/>
          </a:p>
        </p:txBody>
      </p:sp>
      <p:sp>
        <p:nvSpPr>
          <p:cNvPr id="10" name="Text 8"/>
          <p:cNvSpPr/>
          <p:nvPr/>
        </p:nvSpPr>
        <p:spPr>
          <a:xfrm>
            <a:off x="5349240" y="2176272"/>
            <a:ext cx="1783080" cy="1316736"/>
          </a:xfrm>
          <a:prstGeom prst="roundRect">
            <a:avLst/>
          </a:prstGeom>
          <a:solidFill>
            <a:srgbClr val="E5F6FF"/>
          </a:solidFill>
          <a:ln w="15240">
            <a:solidFill>
              <a:srgbClr val="0F62FE"/>
            </a:solidFill>
          </a:ln>
        </p:spPr>
        <p:txBody>
          <a:bodyPr wrap="square" lIns="635" tIns="635" rIns="635" bIns="635" rtlCol="0" anchor="ctr">
            <a:normAutofit/>
          </a:bodyPr>
          <a:lstStyle/>
          <a:p>
            <a:pPr algn="ctr" indent="0" marL="0">
              <a:buNone/>
            </a:pPr>
            <a:r>
              <a:rPr lang="en-US" sz="1300" b="1" dirty="0">
                <a:solidFill>
                  <a:srgbClr val="000000"/>
                </a:solidFill>
                <a:latin typeface="Aptos" pitchFamily="34" charset="0"/>
                <a:ea typeface="Aptos" pitchFamily="34" charset="-122"/>
                <a:cs typeface="Aptos" pitchFamily="34" charset="-120"/>
              </a:rPr>
              <a:t>Smart router</a:t>
            </a:r>
            <a:endParaRPr lang="en-US" sz="1300" dirty="0"/>
          </a:p>
        </p:txBody>
      </p:sp>
      <p:sp>
        <p:nvSpPr>
          <p:cNvPr id="11" name="Text 9"/>
          <p:cNvSpPr/>
          <p:nvPr/>
        </p:nvSpPr>
        <p:spPr>
          <a:xfrm>
            <a:off x="7726680" y="2240280"/>
            <a:ext cx="1783080" cy="118872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Prefill worker</a:t>
            </a:r>
            <a:endParaRPr lang="en-US" sz="1100" dirty="0"/>
          </a:p>
        </p:txBody>
      </p:sp>
      <p:sp>
        <p:nvSpPr>
          <p:cNvPr id="12" name="Text 10"/>
          <p:cNvSpPr/>
          <p:nvPr/>
        </p:nvSpPr>
        <p:spPr>
          <a:xfrm>
            <a:off x="10104120" y="2240280"/>
            <a:ext cx="1783080" cy="118872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Decode worker</a:t>
            </a:r>
            <a:endParaRPr lang="en-US" sz="1100" dirty="0"/>
          </a:p>
        </p:txBody>
      </p:sp>
      <p:sp>
        <p:nvSpPr>
          <p:cNvPr id="13" name="Text 11"/>
          <p:cNvSpPr/>
          <p:nvPr/>
        </p:nvSpPr>
        <p:spPr>
          <a:xfrm>
            <a:off x="822960" y="4160520"/>
            <a:ext cx="1828800" cy="320040"/>
          </a:xfrm>
          <a:prstGeom prst="rect">
            <a:avLst/>
          </a:prstGeom>
          <a:solidFill>
            <a:srgbClr val="BAE6FF"/>
          </a:solidFill>
          <a:ln>
            <a:solidFill>
              <a:srgbClr val="BAE6FF"/>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Router signals</a:t>
            </a:r>
            <a:endParaRPr lang="en-US" sz="1050" dirty="0"/>
          </a:p>
        </p:txBody>
      </p:sp>
      <p:sp>
        <p:nvSpPr>
          <p:cNvPr id="14" name="Text 12"/>
          <p:cNvSpPr/>
          <p:nvPr/>
        </p:nvSpPr>
        <p:spPr>
          <a:xfrm>
            <a:off x="914400" y="4617720"/>
            <a:ext cx="4480560" cy="1188720"/>
          </a:xfrm>
          <a:prstGeom prst="rect">
            <a:avLst/>
          </a:prstGeom>
          <a:noFill/>
          <a:ln/>
        </p:spPr>
        <p:txBody>
          <a:bodyPr wrap="square" lIns="254" tIns="254" rIns="254" bIns="254" rtlCol="0" anchor="t">
            <a:normAutofit/>
          </a:bodyPr>
          <a:lstStyle/>
          <a:p>
            <a:pPr indent="0" marL="0">
              <a:buNone/>
            </a:pPr>
            <a:r>
              <a:rPr lang="en-US" sz="1400" dirty="0">
                <a:solidFill>
                  <a:srgbClr val="000000"/>
                </a:solidFill>
                <a:latin typeface="Aptos" pitchFamily="34" charset="0"/>
                <a:ea typeface="Aptos" pitchFamily="34" charset="-122"/>
                <a:cs typeface="Aptos" pitchFamily="34" charset="-120"/>
              </a:rPr>
              <a:t>• Current worker load</a:t>
            </a:r>
            <a:endParaRPr lang="en-US" sz="1400" dirty="0"/>
          </a:p>
          <a:p>
            <a:pPr indent="0" marL="0">
              <a:buNone/>
            </a:pPr>
            <a:r>
              <a:rPr lang="en-US" sz="1400" dirty="0">
                <a:solidFill>
                  <a:srgbClr val="000000"/>
                </a:solidFill>
                <a:latin typeface="Aptos" pitchFamily="34" charset="0"/>
                <a:ea typeface="Aptos" pitchFamily="34" charset="-122"/>
                <a:cs typeface="Aptos" pitchFamily="34" charset="-120"/>
              </a:rPr>
              <a:t>• Queue pressure</a:t>
            </a:r>
            <a:endParaRPr lang="en-US" sz="1400" dirty="0"/>
          </a:p>
          <a:p>
            <a:pPr indent="0" marL="0">
              <a:buNone/>
            </a:pPr>
            <a:r>
              <a:rPr lang="en-US" sz="1400" dirty="0">
                <a:solidFill>
                  <a:srgbClr val="000000"/>
                </a:solidFill>
                <a:latin typeface="Aptos" pitchFamily="34" charset="0"/>
                <a:ea typeface="Aptos" pitchFamily="34" charset="-122"/>
                <a:cs typeface="Aptos" pitchFamily="34" charset="-120"/>
              </a:rPr>
              <a:t>• Where reusable state already lives</a:t>
            </a:r>
            <a:endParaRPr lang="en-US" sz="1400" dirty="0"/>
          </a:p>
          <a:p>
            <a:pPr indent="0" marL="0">
              <a:buNone/>
            </a:pPr>
            <a:r>
              <a:rPr lang="en-US" sz="1400" dirty="0">
                <a:solidFill>
                  <a:srgbClr val="000000"/>
                </a:solidFill>
                <a:latin typeface="Aptos" pitchFamily="34" charset="0"/>
                <a:ea typeface="Aptos" pitchFamily="34" charset="-122"/>
                <a:cs typeface="Aptos" pitchFamily="34" charset="-120"/>
              </a:rPr>
              <a:t>• Cost of moving state vs recomputing</a:t>
            </a:r>
            <a:endParaRPr lang="en-US" sz="1400" dirty="0"/>
          </a:p>
        </p:txBody>
      </p:sp>
      <p:sp>
        <p:nvSpPr>
          <p:cNvPr id="15" name="Text 13"/>
          <p:cNvSpPr/>
          <p:nvPr/>
        </p:nvSpPr>
        <p:spPr>
          <a:xfrm>
            <a:off x="6080760" y="4590288"/>
            <a:ext cx="5029200" cy="749808"/>
          </a:xfrm>
          <a:prstGeom prst="rect">
            <a:avLst/>
          </a:prstGeom>
          <a:noFill/>
          <a:ln/>
        </p:spPr>
        <p:txBody>
          <a:bodyPr wrap="square" lIns="635" tIns="635" rIns="635" bIns="635" rtlCol="0" anchor="t">
            <a:normAutofit/>
          </a:bodyPr>
          <a:lstStyle/>
          <a:p>
            <a:pPr algn="l" indent="0" marL="0">
              <a:buNone/>
            </a:pPr>
            <a:r>
              <a:rPr lang="en-US" sz="1500" dirty="0">
                <a:solidFill>
                  <a:srgbClr val="000000"/>
                </a:solidFill>
                <a:latin typeface="Aptos" pitchFamily="34" charset="0"/>
                <a:ea typeface="Aptos" pitchFamily="34" charset="-122"/>
                <a:cs typeface="Aptos" pitchFamily="34" charset="-120"/>
              </a:rPr>
              <a:t>“Smart” here means heuristics and scheduling algorithms, not an AI agent deciding the route.</a:t>
            </a:r>
            <a:endParaRPr lang="en-US" sz="1500" dirty="0"/>
          </a:p>
        </p:txBody>
      </p:sp>
      <p:sp>
        <p:nvSpPr>
          <p:cNvPr id="16" name="Text 14"/>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7" name="Text 15"/>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6</a:t>
            </a:r>
            <a:endParaRPr lang="en-US" sz="650" dirty="0"/>
          </a:p>
        </p:txBody>
      </p:sp>
      <p:sp>
        <p:nvSpPr>
          <p:cNvPr id="18" name="Text 16"/>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Disaggregated serving</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Prefill and decode scale differently</a:t>
            </a:r>
            <a:endParaRPr lang="en-US" sz="3000" dirty="0"/>
          </a:p>
        </p:txBody>
      </p:sp>
      <p:sp>
        <p:nvSpPr>
          <p:cNvPr id="4" name="Text 2"/>
          <p:cNvSpPr/>
          <p:nvPr/>
        </p:nvSpPr>
        <p:spPr>
          <a:xfrm>
            <a:off x="960120" y="1645920"/>
            <a:ext cx="2834640" cy="109728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1600" b="1" dirty="0">
                <a:solidFill>
                  <a:srgbClr val="000000"/>
                </a:solidFill>
                <a:latin typeface="Aptos" pitchFamily="34" charset="0"/>
                <a:ea typeface="Aptos" pitchFamily="34" charset="-122"/>
                <a:cs typeface="Aptos" pitchFamily="34" charset="-120"/>
              </a:rPr>
              <a:t>Prefill workers</a:t>
            </a:r>
            <a:endParaRPr lang="en-US" sz="1600" dirty="0"/>
          </a:p>
          <a:p>
            <a:pPr algn="ctr" indent="0" marL="0">
              <a:buNone/>
            </a:pPr>
            <a:r>
              <a:rPr lang="en-US" sz="1600" b="1" dirty="0">
                <a:solidFill>
                  <a:srgbClr val="000000"/>
                </a:solidFill>
                <a:latin typeface="Aptos" pitchFamily="34" charset="0"/>
                <a:ea typeface="Aptos" pitchFamily="34" charset="-122"/>
                <a:cs typeface="Aptos" pitchFamily="34" charset="-120"/>
              </a:rPr>
              <a:t>compute-heavy</a:t>
            </a:r>
            <a:endParaRPr lang="en-US" sz="1600" dirty="0"/>
          </a:p>
        </p:txBody>
      </p:sp>
      <p:sp>
        <p:nvSpPr>
          <p:cNvPr id="5" name="Text 3"/>
          <p:cNvSpPr/>
          <p:nvPr/>
        </p:nvSpPr>
        <p:spPr>
          <a:xfrm>
            <a:off x="8183880" y="1645920"/>
            <a:ext cx="2834640" cy="109728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1600" b="1" dirty="0">
                <a:solidFill>
                  <a:srgbClr val="000000"/>
                </a:solidFill>
                <a:latin typeface="Aptos" pitchFamily="34" charset="0"/>
                <a:ea typeface="Aptos" pitchFamily="34" charset="-122"/>
                <a:cs typeface="Aptos" pitchFamily="34" charset="-120"/>
              </a:rPr>
              <a:t>Decode workers</a:t>
            </a:r>
            <a:endParaRPr lang="en-US" sz="1600" dirty="0"/>
          </a:p>
          <a:p>
            <a:pPr algn="ctr" indent="0" marL="0">
              <a:buNone/>
            </a:pPr>
            <a:r>
              <a:rPr lang="en-US" sz="1600" b="1" dirty="0">
                <a:solidFill>
                  <a:srgbClr val="000000"/>
                </a:solidFill>
                <a:latin typeface="Aptos" pitchFamily="34" charset="0"/>
                <a:ea typeface="Aptos" pitchFamily="34" charset="-122"/>
                <a:cs typeface="Aptos" pitchFamily="34" charset="-120"/>
              </a:rPr>
              <a:t>memory / latency-heavy</a:t>
            </a:r>
            <a:endParaRPr lang="en-US" sz="1600" dirty="0"/>
          </a:p>
        </p:txBody>
      </p:sp>
      <p:sp>
        <p:nvSpPr>
          <p:cNvPr id="6" name="Shape 4"/>
          <p:cNvSpPr/>
          <p:nvPr/>
        </p:nvSpPr>
        <p:spPr>
          <a:xfrm>
            <a:off x="4160520" y="2194560"/>
            <a:ext cx="3611880" cy="0"/>
          </a:xfrm>
          <a:prstGeom prst="line">
            <a:avLst/>
          </a:prstGeom>
          <a:noFill/>
          <a:ln w="22860">
            <a:solidFill>
              <a:srgbClr val="0F62FE"/>
            </a:solidFill>
            <a:prstDash val="solid"/>
            <a:headEnd type="none"/>
            <a:tailEnd type="triangle"/>
          </a:ln>
        </p:spPr>
      </p:sp>
      <p:sp>
        <p:nvSpPr>
          <p:cNvPr id="7" name="Text 5"/>
          <p:cNvSpPr/>
          <p:nvPr/>
        </p:nvSpPr>
        <p:spPr>
          <a:xfrm>
            <a:off x="5074920" y="1847088"/>
            <a:ext cx="1874520" cy="228600"/>
          </a:xfrm>
          <a:prstGeom prst="rect">
            <a:avLst/>
          </a:prstGeom>
          <a:noFill/>
          <a:ln/>
        </p:spPr>
        <p:txBody>
          <a:bodyPr wrap="square" lIns="0" tIns="0" rIns="0" bIns="0" rtlCol="0" anchor="ctr">
            <a:normAutofit/>
          </a:bodyPr>
          <a:lstStyle/>
          <a:p>
            <a:pPr algn="ctr" indent="0" marL="0">
              <a:buNone/>
            </a:pPr>
            <a:r>
              <a:rPr lang="en-US" sz="1100" dirty="0">
                <a:solidFill>
                  <a:srgbClr val="0F62FE"/>
                </a:solidFill>
                <a:latin typeface="Aptos" pitchFamily="34" charset="0"/>
                <a:ea typeface="Aptos" pitchFamily="34" charset="-122"/>
                <a:cs typeface="Aptos" pitchFamily="34" charset="-120"/>
              </a:rPr>
              <a:t>KV state transfer</a:t>
            </a:r>
            <a:endParaRPr lang="en-US" sz="1100" dirty="0"/>
          </a:p>
        </p:txBody>
      </p:sp>
      <p:sp>
        <p:nvSpPr>
          <p:cNvPr id="8" name="Text 6"/>
          <p:cNvSpPr/>
          <p:nvPr/>
        </p:nvSpPr>
        <p:spPr>
          <a:xfrm>
            <a:off x="1051560" y="3657600"/>
            <a:ext cx="4846320" cy="1280160"/>
          </a:xfrm>
          <a:prstGeom prst="rect">
            <a:avLst/>
          </a:prstGeom>
          <a:noFill/>
          <a:ln/>
        </p:spPr>
        <p:txBody>
          <a:bodyPr wrap="square" lIns="254" tIns="254" rIns="254" bIns="254" rtlCol="0" anchor="t">
            <a:normAutofit/>
          </a:bodyPr>
          <a:lstStyle/>
          <a:p>
            <a:pPr indent="0" marL="0">
              <a:buNone/>
            </a:pPr>
            <a:r>
              <a:rPr lang="en-US" sz="1500" dirty="0">
                <a:solidFill>
                  <a:srgbClr val="000000"/>
                </a:solidFill>
                <a:latin typeface="Aptos" pitchFamily="34" charset="0"/>
                <a:ea typeface="Aptos" pitchFamily="34" charset="-122"/>
                <a:cs typeface="Aptos" pitchFamily="34" charset="-120"/>
              </a:rPr>
              <a:t>• One phase processes the input context in parallel</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The other phase produces output tokens step by step</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Separating them lets each pool be sized for the actual workload mix</a:t>
            </a:r>
            <a:endParaRPr lang="en-US" sz="1500" dirty="0"/>
          </a:p>
        </p:txBody>
      </p:sp>
      <p:sp>
        <p:nvSpPr>
          <p:cNvPr id="9" name="Text 7"/>
          <p:cNvSpPr/>
          <p:nvPr/>
        </p:nvSpPr>
        <p:spPr>
          <a:xfrm>
            <a:off x="6492240" y="3657600"/>
            <a:ext cx="4800600" cy="1280160"/>
          </a:xfrm>
          <a:prstGeom prst="rect">
            <a:avLst/>
          </a:prstGeom>
          <a:noFill/>
          <a:ln/>
        </p:spPr>
        <p:txBody>
          <a:bodyPr wrap="square" lIns="254" tIns="254" rIns="254" bIns="254" rtlCol="0" anchor="t">
            <a:normAutofit/>
          </a:bodyPr>
          <a:lstStyle/>
          <a:p>
            <a:pPr indent="0" marL="0">
              <a:buNone/>
            </a:pPr>
            <a:r>
              <a:rPr lang="en-US" sz="1500" dirty="0">
                <a:solidFill>
                  <a:srgbClr val="000000"/>
                </a:solidFill>
                <a:latin typeface="Aptos" pitchFamily="34" charset="0"/>
                <a:ea typeface="Aptos" pitchFamily="34" charset="-122"/>
                <a:cs typeface="Aptos" pitchFamily="34" charset="-120"/>
              </a:rPr>
              <a:t>• Sales translation: fewer idle GPUs, more predictable latency</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Not the only parallel strategy, but a core Dynamo optimization at scale</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Covered here only as architecture, not token-level mechanics</a:t>
            </a:r>
            <a:endParaRPr lang="en-US" sz="1500" dirty="0"/>
          </a:p>
        </p:txBody>
      </p:sp>
      <p:sp>
        <p:nvSpPr>
          <p:cNvPr id="10" name="Text 8"/>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1" name="Text 9"/>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7</a:t>
            </a:r>
            <a:endParaRPr lang="en-US" sz="650" dirty="0"/>
          </a:p>
        </p:txBody>
      </p:sp>
      <p:sp>
        <p:nvSpPr>
          <p:cNvPr id="12" name="Text 10"/>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State path</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KVBM makes cache usable across the fleet</a:t>
            </a:r>
            <a:endParaRPr lang="en-US" sz="3000" dirty="0"/>
          </a:p>
        </p:txBody>
      </p:sp>
      <p:sp>
        <p:nvSpPr>
          <p:cNvPr id="4" name="Text 2"/>
          <p:cNvSpPr/>
          <p:nvPr/>
        </p:nvSpPr>
        <p:spPr>
          <a:xfrm>
            <a:off x="822960" y="1508760"/>
            <a:ext cx="3200400" cy="384048"/>
          </a:xfrm>
          <a:prstGeom prst="rect">
            <a:avLst/>
          </a:prstGeom>
          <a:solidFill>
            <a:srgbClr val="F4F4F4"/>
          </a:solidFill>
          <a:ln>
            <a:solidFill>
              <a:srgbClr val="F4F4F4"/>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Runtime connectors</a:t>
            </a:r>
            <a:endParaRPr lang="en-US" sz="1050" dirty="0"/>
          </a:p>
        </p:txBody>
      </p:sp>
      <p:sp>
        <p:nvSpPr>
          <p:cNvPr id="5" name="Text 3"/>
          <p:cNvSpPr/>
          <p:nvPr/>
        </p:nvSpPr>
        <p:spPr>
          <a:xfrm>
            <a:off x="868680" y="2057400"/>
            <a:ext cx="960120" cy="530352"/>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vLLM</a:t>
            </a:r>
            <a:endParaRPr lang="en-US" sz="1100" dirty="0"/>
          </a:p>
        </p:txBody>
      </p:sp>
      <p:sp>
        <p:nvSpPr>
          <p:cNvPr id="6" name="Text 4"/>
          <p:cNvSpPr/>
          <p:nvPr/>
        </p:nvSpPr>
        <p:spPr>
          <a:xfrm>
            <a:off x="1938528" y="2057400"/>
            <a:ext cx="960120" cy="530352"/>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TRT-LLM</a:t>
            </a:r>
            <a:endParaRPr lang="en-US" sz="1100" dirty="0"/>
          </a:p>
        </p:txBody>
      </p:sp>
      <p:sp>
        <p:nvSpPr>
          <p:cNvPr id="7" name="Text 5"/>
          <p:cNvSpPr/>
          <p:nvPr/>
        </p:nvSpPr>
        <p:spPr>
          <a:xfrm>
            <a:off x="3008376" y="2057400"/>
            <a:ext cx="960120" cy="530352"/>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SGLang</a:t>
            </a:r>
            <a:endParaRPr lang="en-US" sz="1100" dirty="0"/>
          </a:p>
        </p:txBody>
      </p:sp>
      <p:sp>
        <p:nvSpPr>
          <p:cNvPr id="8" name="Shape 6"/>
          <p:cNvSpPr/>
          <p:nvPr/>
        </p:nvSpPr>
        <p:spPr>
          <a:xfrm>
            <a:off x="2423160" y="2743200"/>
            <a:ext cx="0" cy="502920"/>
          </a:xfrm>
          <a:prstGeom prst="line">
            <a:avLst/>
          </a:prstGeom>
          <a:noFill/>
          <a:ln w="17780">
            <a:solidFill>
              <a:srgbClr val="0F62FE"/>
            </a:solidFill>
            <a:prstDash val="solid"/>
            <a:headEnd type="none"/>
            <a:tailEnd type="triangle"/>
          </a:ln>
        </p:spPr>
      </p:sp>
      <p:sp>
        <p:nvSpPr>
          <p:cNvPr id="9" name="Text 7"/>
          <p:cNvSpPr/>
          <p:nvPr/>
        </p:nvSpPr>
        <p:spPr>
          <a:xfrm>
            <a:off x="822960" y="3383280"/>
            <a:ext cx="3200400" cy="384048"/>
          </a:xfrm>
          <a:prstGeom prst="rect">
            <a:avLst/>
          </a:prstGeom>
          <a:solidFill>
            <a:srgbClr val="BAE6FF"/>
          </a:solidFill>
          <a:ln>
            <a:solidFill>
              <a:srgbClr val="BAE6FF"/>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KVBM core</a:t>
            </a:r>
            <a:endParaRPr lang="en-US" sz="1050" dirty="0"/>
          </a:p>
        </p:txBody>
      </p:sp>
      <p:sp>
        <p:nvSpPr>
          <p:cNvPr id="10" name="Text 8"/>
          <p:cNvSpPr/>
          <p:nvPr/>
        </p:nvSpPr>
        <p:spPr>
          <a:xfrm>
            <a:off x="868680" y="3931920"/>
            <a:ext cx="960120" cy="530352"/>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allocation</a:t>
            </a:r>
            <a:endParaRPr lang="en-US" sz="1000" dirty="0"/>
          </a:p>
        </p:txBody>
      </p:sp>
      <p:sp>
        <p:nvSpPr>
          <p:cNvPr id="11" name="Text 9"/>
          <p:cNvSpPr/>
          <p:nvPr/>
        </p:nvSpPr>
        <p:spPr>
          <a:xfrm>
            <a:off x="1938528" y="3931920"/>
            <a:ext cx="960120" cy="530352"/>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metadata</a:t>
            </a:r>
            <a:endParaRPr lang="en-US" sz="1000" dirty="0"/>
          </a:p>
        </p:txBody>
      </p:sp>
      <p:sp>
        <p:nvSpPr>
          <p:cNvPr id="12" name="Text 10"/>
          <p:cNvSpPr/>
          <p:nvPr/>
        </p:nvSpPr>
        <p:spPr>
          <a:xfrm>
            <a:off x="3008376" y="3931920"/>
            <a:ext cx="960120" cy="530352"/>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evict / reuse</a:t>
            </a:r>
            <a:endParaRPr lang="en-US" sz="1000" dirty="0"/>
          </a:p>
        </p:txBody>
      </p:sp>
      <p:sp>
        <p:nvSpPr>
          <p:cNvPr id="13" name="Shape 11"/>
          <p:cNvSpPr/>
          <p:nvPr/>
        </p:nvSpPr>
        <p:spPr>
          <a:xfrm>
            <a:off x="4251960" y="3657600"/>
            <a:ext cx="777240" cy="0"/>
          </a:xfrm>
          <a:prstGeom prst="line">
            <a:avLst/>
          </a:prstGeom>
          <a:noFill/>
          <a:ln w="17780">
            <a:solidFill>
              <a:srgbClr val="0F62FE"/>
            </a:solidFill>
            <a:prstDash val="solid"/>
            <a:headEnd type="none"/>
            <a:tailEnd type="triangle"/>
          </a:ln>
        </p:spPr>
      </p:sp>
      <p:sp>
        <p:nvSpPr>
          <p:cNvPr id="14" name="Text 12"/>
          <p:cNvSpPr/>
          <p:nvPr/>
        </p:nvSpPr>
        <p:spPr>
          <a:xfrm>
            <a:off x="5257800" y="1508760"/>
            <a:ext cx="6080760" cy="384048"/>
          </a:xfrm>
          <a:prstGeom prst="rect">
            <a:avLst/>
          </a:prstGeom>
          <a:solidFill>
            <a:srgbClr val="F4F4F4"/>
          </a:solidFill>
          <a:ln>
            <a:solidFill>
              <a:srgbClr val="F4F4F4"/>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Memory / storage tiers</a:t>
            </a:r>
            <a:endParaRPr lang="en-US" sz="1050" dirty="0"/>
          </a:p>
        </p:txBody>
      </p:sp>
      <p:sp>
        <p:nvSpPr>
          <p:cNvPr id="15" name="Text 13"/>
          <p:cNvSpPr/>
          <p:nvPr/>
        </p:nvSpPr>
        <p:spPr>
          <a:xfrm>
            <a:off x="5303520" y="2240280"/>
            <a:ext cx="1234440" cy="91440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950" b="1" dirty="0">
                <a:solidFill>
                  <a:srgbClr val="000000"/>
                </a:solidFill>
                <a:latin typeface="Aptos" pitchFamily="34" charset="0"/>
                <a:ea typeface="Aptos" pitchFamily="34" charset="-122"/>
                <a:cs typeface="Aptos" pitchFamily="34" charset="-120"/>
              </a:rPr>
              <a:t>GPU HBM</a:t>
            </a:r>
            <a:endParaRPr lang="en-US" sz="950" dirty="0"/>
          </a:p>
          <a:p>
            <a:pPr algn="ctr" indent="0" marL="0">
              <a:buNone/>
            </a:pPr>
            <a:r>
              <a:rPr lang="en-US" sz="950" b="1" dirty="0">
                <a:solidFill>
                  <a:srgbClr val="000000"/>
                </a:solidFill>
                <a:latin typeface="Aptos" pitchFamily="34" charset="0"/>
                <a:ea typeface="Aptos" pitchFamily="34" charset="-122"/>
                <a:cs typeface="Aptos" pitchFamily="34" charset="-120"/>
              </a:rPr>
              <a:t>fastest / smallest</a:t>
            </a:r>
            <a:endParaRPr lang="en-US" sz="950" dirty="0"/>
          </a:p>
        </p:txBody>
      </p:sp>
      <p:sp>
        <p:nvSpPr>
          <p:cNvPr id="16" name="Text 14"/>
          <p:cNvSpPr/>
          <p:nvPr/>
        </p:nvSpPr>
        <p:spPr>
          <a:xfrm>
            <a:off x="6812280" y="2240280"/>
            <a:ext cx="1234440" cy="91440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950" b="1" dirty="0">
                <a:solidFill>
                  <a:srgbClr val="000000"/>
                </a:solidFill>
                <a:latin typeface="Aptos" pitchFamily="34" charset="0"/>
                <a:ea typeface="Aptos" pitchFamily="34" charset="-122"/>
                <a:cs typeface="Aptos" pitchFamily="34" charset="-120"/>
              </a:rPr>
              <a:t>Host DRAM</a:t>
            </a:r>
            <a:endParaRPr lang="en-US" sz="950" dirty="0"/>
          </a:p>
          <a:p>
            <a:pPr algn="ctr" indent="0" marL="0">
              <a:buNone/>
            </a:pPr>
            <a:r>
              <a:rPr lang="en-US" sz="950" b="1" dirty="0">
                <a:solidFill>
                  <a:srgbClr val="000000"/>
                </a:solidFill>
                <a:latin typeface="Aptos" pitchFamily="34" charset="0"/>
                <a:ea typeface="Aptos" pitchFamily="34" charset="-122"/>
                <a:cs typeface="Aptos" pitchFamily="34" charset="-120"/>
              </a:rPr>
              <a:t>warm tier</a:t>
            </a:r>
            <a:endParaRPr lang="en-US" sz="950" dirty="0"/>
          </a:p>
        </p:txBody>
      </p:sp>
      <p:sp>
        <p:nvSpPr>
          <p:cNvPr id="17" name="Text 15"/>
          <p:cNvSpPr/>
          <p:nvPr/>
        </p:nvSpPr>
        <p:spPr>
          <a:xfrm>
            <a:off x="8321040" y="2240280"/>
            <a:ext cx="1234440" cy="91440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950" b="1" dirty="0">
                <a:solidFill>
                  <a:srgbClr val="000000"/>
                </a:solidFill>
                <a:latin typeface="Aptos" pitchFamily="34" charset="0"/>
                <a:ea typeface="Aptos" pitchFamily="34" charset="-122"/>
                <a:cs typeface="Aptos" pitchFamily="34" charset="-120"/>
              </a:rPr>
              <a:t>Local SSD</a:t>
            </a:r>
            <a:endParaRPr lang="en-US" sz="950" dirty="0"/>
          </a:p>
          <a:p>
            <a:pPr algn="ctr" indent="0" marL="0">
              <a:buNone/>
            </a:pPr>
            <a:r>
              <a:rPr lang="en-US" sz="950" b="1" dirty="0">
                <a:solidFill>
                  <a:srgbClr val="000000"/>
                </a:solidFill>
                <a:latin typeface="Aptos" pitchFamily="34" charset="0"/>
                <a:ea typeface="Aptos" pitchFamily="34" charset="-122"/>
                <a:cs typeface="Aptos" pitchFamily="34" charset="-120"/>
              </a:rPr>
              <a:t>colder tier</a:t>
            </a:r>
            <a:endParaRPr lang="en-US" sz="950" dirty="0"/>
          </a:p>
        </p:txBody>
      </p:sp>
      <p:sp>
        <p:nvSpPr>
          <p:cNvPr id="18" name="Text 16"/>
          <p:cNvSpPr/>
          <p:nvPr/>
        </p:nvSpPr>
        <p:spPr>
          <a:xfrm>
            <a:off x="9829800" y="2240280"/>
            <a:ext cx="1234440" cy="91440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950" b="1" dirty="0">
                <a:solidFill>
                  <a:srgbClr val="000000"/>
                </a:solidFill>
                <a:latin typeface="Aptos" pitchFamily="34" charset="0"/>
                <a:ea typeface="Aptos" pitchFamily="34" charset="-122"/>
                <a:cs typeface="Aptos" pitchFamily="34" charset="-120"/>
              </a:rPr>
              <a:t>Remote / object</a:t>
            </a:r>
            <a:endParaRPr lang="en-US" sz="950" dirty="0"/>
          </a:p>
          <a:p>
            <a:pPr algn="ctr" indent="0" marL="0">
              <a:buNone/>
            </a:pPr>
            <a:r>
              <a:rPr lang="en-US" sz="950" b="1" dirty="0">
                <a:solidFill>
                  <a:srgbClr val="000000"/>
                </a:solidFill>
                <a:latin typeface="Aptos" pitchFamily="34" charset="0"/>
                <a:ea typeface="Aptos" pitchFamily="34" charset="-122"/>
                <a:cs typeface="Aptos" pitchFamily="34" charset="-120"/>
              </a:rPr>
              <a:t>capacity tier</a:t>
            </a:r>
            <a:endParaRPr lang="en-US" sz="950" dirty="0"/>
          </a:p>
        </p:txBody>
      </p:sp>
      <p:sp>
        <p:nvSpPr>
          <p:cNvPr id="19" name="Text 17"/>
          <p:cNvSpPr/>
          <p:nvPr/>
        </p:nvSpPr>
        <p:spPr>
          <a:xfrm>
            <a:off x="5349240" y="3931920"/>
            <a:ext cx="5486400" cy="1143000"/>
          </a:xfrm>
          <a:prstGeom prst="rect">
            <a:avLst/>
          </a:prstGeom>
          <a:noFill/>
          <a:ln/>
        </p:spPr>
        <p:txBody>
          <a:bodyPr wrap="square" lIns="254" tIns="254" rIns="254" bIns="254" rtlCol="0" anchor="t">
            <a:normAutofit/>
          </a:bodyPr>
          <a:lstStyle/>
          <a:p>
            <a:pPr indent="0" marL="0">
              <a:buNone/>
            </a:pPr>
            <a:r>
              <a:rPr lang="en-US" sz="1400" dirty="0">
                <a:solidFill>
                  <a:srgbClr val="000000"/>
                </a:solidFill>
                <a:latin typeface="Aptos" pitchFamily="34" charset="0"/>
                <a:ea typeface="Aptos" pitchFamily="34" charset="-122"/>
                <a:cs typeface="Aptos" pitchFamily="34" charset="-120"/>
              </a:rPr>
              <a:t>• Tracks where useful KV blocks live</a:t>
            </a:r>
            <a:endParaRPr lang="en-US" sz="1400" dirty="0"/>
          </a:p>
          <a:p>
            <a:pPr indent="0" marL="0">
              <a:buNone/>
            </a:pPr>
            <a:r>
              <a:rPr lang="en-US" sz="1400" dirty="0">
                <a:solidFill>
                  <a:srgbClr val="000000"/>
                </a:solidFill>
                <a:latin typeface="Aptos" pitchFamily="34" charset="0"/>
                <a:ea typeface="Aptos" pitchFamily="34" charset="-122"/>
                <a:cs typeface="Aptos" pitchFamily="34" charset="-120"/>
              </a:rPr>
              <a:t>• Decides when to keep, reuse, evict or offload blocks</a:t>
            </a:r>
            <a:endParaRPr lang="en-US" sz="1400" dirty="0"/>
          </a:p>
          <a:p>
            <a:pPr indent="0" marL="0">
              <a:buNone/>
            </a:pPr>
            <a:r>
              <a:rPr lang="en-US" sz="1400" dirty="0">
                <a:solidFill>
                  <a:srgbClr val="000000"/>
                </a:solidFill>
                <a:latin typeface="Aptos" pitchFamily="34" charset="0"/>
                <a:ea typeface="Aptos" pitchFamily="34" charset="-122"/>
                <a:cs typeface="Aptos" pitchFamily="34" charset="-120"/>
              </a:rPr>
              <a:t>• Separates memory management from the backend engine</a:t>
            </a:r>
            <a:endParaRPr lang="en-US" sz="1400" dirty="0"/>
          </a:p>
        </p:txBody>
      </p:sp>
      <p:sp>
        <p:nvSpPr>
          <p:cNvPr id="20" name="Text 18"/>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21" name="Text 19"/>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8</a:t>
            </a:r>
            <a:endParaRPr lang="en-US" sz="650" dirty="0"/>
          </a:p>
        </p:txBody>
      </p:sp>
      <p:sp>
        <p:nvSpPr>
          <p:cNvPr id="22" name="Text 20"/>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Data movement</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NIXL moves the state without making every engine reinvent transport</a:t>
            </a:r>
            <a:endParaRPr lang="en-US" sz="3000" dirty="0"/>
          </a:p>
        </p:txBody>
      </p:sp>
      <p:sp>
        <p:nvSpPr>
          <p:cNvPr id="4" name="Text 2"/>
          <p:cNvSpPr/>
          <p:nvPr/>
        </p:nvSpPr>
        <p:spPr>
          <a:xfrm>
            <a:off x="1005840" y="1828800"/>
            <a:ext cx="1828800" cy="109728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1400" b="1" dirty="0">
                <a:solidFill>
                  <a:srgbClr val="000000"/>
                </a:solidFill>
                <a:latin typeface="Aptos" pitchFamily="34" charset="0"/>
                <a:ea typeface="Aptos" pitchFamily="34" charset="-122"/>
                <a:cs typeface="Aptos" pitchFamily="34" charset="-120"/>
              </a:rPr>
              <a:t>Worker A</a:t>
            </a:r>
            <a:endParaRPr lang="en-US" sz="1400" dirty="0"/>
          </a:p>
          <a:p>
            <a:pPr algn="ctr" indent="0" marL="0">
              <a:buNone/>
            </a:pPr>
            <a:r>
              <a:rPr lang="en-US" sz="1400" b="1" dirty="0">
                <a:solidFill>
                  <a:srgbClr val="000000"/>
                </a:solidFill>
                <a:latin typeface="Aptos" pitchFamily="34" charset="0"/>
                <a:ea typeface="Aptos" pitchFamily="34" charset="-122"/>
                <a:cs typeface="Aptos" pitchFamily="34" charset="-120"/>
              </a:rPr>
              <a:t>prefill</a:t>
            </a:r>
            <a:endParaRPr lang="en-US" sz="1400" dirty="0"/>
          </a:p>
        </p:txBody>
      </p:sp>
      <p:sp>
        <p:nvSpPr>
          <p:cNvPr id="5" name="Text 3"/>
          <p:cNvSpPr/>
          <p:nvPr/>
        </p:nvSpPr>
        <p:spPr>
          <a:xfrm>
            <a:off x="9326880" y="1828800"/>
            <a:ext cx="1828800" cy="109728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1400" b="1" dirty="0">
                <a:solidFill>
                  <a:srgbClr val="000000"/>
                </a:solidFill>
                <a:latin typeface="Aptos" pitchFamily="34" charset="0"/>
                <a:ea typeface="Aptos" pitchFamily="34" charset="-122"/>
                <a:cs typeface="Aptos" pitchFamily="34" charset="-120"/>
              </a:rPr>
              <a:t>Worker B</a:t>
            </a:r>
            <a:endParaRPr lang="en-US" sz="1400" dirty="0"/>
          </a:p>
          <a:p>
            <a:pPr algn="ctr" indent="0" marL="0">
              <a:buNone/>
            </a:pPr>
            <a:r>
              <a:rPr lang="en-US" sz="1400" b="1" dirty="0">
                <a:solidFill>
                  <a:srgbClr val="000000"/>
                </a:solidFill>
                <a:latin typeface="Aptos" pitchFamily="34" charset="0"/>
                <a:ea typeface="Aptos" pitchFamily="34" charset="-122"/>
                <a:cs typeface="Aptos" pitchFamily="34" charset="-120"/>
              </a:rPr>
              <a:t>decode</a:t>
            </a:r>
            <a:endParaRPr lang="en-US" sz="1400" dirty="0"/>
          </a:p>
        </p:txBody>
      </p:sp>
      <p:sp>
        <p:nvSpPr>
          <p:cNvPr id="6" name="Text 4"/>
          <p:cNvSpPr/>
          <p:nvPr/>
        </p:nvSpPr>
        <p:spPr>
          <a:xfrm>
            <a:off x="4251960" y="1874520"/>
            <a:ext cx="3657600" cy="1005840"/>
          </a:xfrm>
          <a:prstGeom prst="roundRect">
            <a:avLst/>
          </a:prstGeom>
          <a:solidFill>
            <a:srgbClr val="E5F6FF"/>
          </a:solidFill>
          <a:ln w="15240">
            <a:solidFill>
              <a:srgbClr val="0F62FE"/>
            </a:solidFill>
          </a:ln>
        </p:spPr>
        <p:txBody>
          <a:bodyPr wrap="square" lIns="635" tIns="635" rIns="635" bIns="635" rtlCol="0" anchor="ctr">
            <a:normAutofit/>
          </a:bodyPr>
          <a:lstStyle/>
          <a:p>
            <a:pPr algn="ctr" indent="0" marL="0">
              <a:buNone/>
            </a:pPr>
            <a:r>
              <a:rPr lang="en-US" sz="1600" b="1" dirty="0">
                <a:solidFill>
                  <a:srgbClr val="000000"/>
                </a:solidFill>
                <a:latin typeface="Aptos" pitchFamily="34" charset="0"/>
                <a:ea typeface="Aptos" pitchFamily="34" charset="-122"/>
                <a:cs typeface="Aptos" pitchFamily="34" charset="-120"/>
              </a:rPr>
              <a:t>NIXL transfer layer</a:t>
            </a:r>
            <a:endParaRPr lang="en-US" sz="1600" dirty="0"/>
          </a:p>
        </p:txBody>
      </p:sp>
      <p:sp>
        <p:nvSpPr>
          <p:cNvPr id="7" name="Shape 5"/>
          <p:cNvSpPr/>
          <p:nvPr/>
        </p:nvSpPr>
        <p:spPr>
          <a:xfrm>
            <a:off x="2971800" y="2377440"/>
            <a:ext cx="1143000" cy="0"/>
          </a:xfrm>
          <a:prstGeom prst="line">
            <a:avLst/>
          </a:prstGeom>
          <a:noFill/>
          <a:ln w="21590">
            <a:solidFill>
              <a:srgbClr val="0F62FE"/>
            </a:solidFill>
            <a:prstDash val="solid"/>
            <a:headEnd type="none"/>
            <a:tailEnd type="triangle"/>
          </a:ln>
        </p:spPr>
      </p:sp>
      <p:sp>
        <p:nvSpPr>
          <p:cNvPr id="8" name="Shape 6"/>
          <p:cNvSpPr/>
          <p:nvPr/>
        </p:nvSpPr>
        <p:spPr>
          <a:xfrm>
            <a:off x="8046720" y="2377440"/>
            <a:ext cx="1143000" cy="0"/>
          </a:xfrm>
          <a:prstGeom prst="line">
            <a:avLst/>
          </a:prstGeom>
          <a:noFill/>
          <a:ln w="21590">
            <a:solidFill>
              <a:srgbClr val="0F62FE"/>
            </a:solidFill>
            <a:prstDash val="solid"/>
            <a:headEnd type="none"/>
            <a:tailEnd type="triangle"/>
          </a:ln>
        </p:spPr>
      </p:sp>
      <p:sp>
        <p:nvSpPr>
          <p:cNvPr id="9" name="Shape 7"/>
          <p:cNvSpPr/>
          <p:nvPr/>
        </p:nvSpPr>
        <p:spPr>
          <a:xfrm>
            <a:off x="6080760" y="2971800"/>
            <a:ext cx="0" cy="685800"/>
          </a:xfrm>
          <a:prstGeom prst="line">
            <a:avLst/>
          </a:prstGeom>
          <a:noFill/>
          <a:ln w="15240">
            <a:solidFill>
              <a:srgbClr val="0F62FE"/>
            </a:solidFill>
            <a:prstDash val="solid"/>
          </a:ln>
        </p:spPr>
      </p:sp>
      <p:sp>
        <p:nvSpPr>
          <p:cNvPr id="10" name="Text 8"/>
          <p:cNvSpPr/>
          <p:nvPr/>
        </p:nvSpPr>
        <p:spPr>
          <a:xfrm>
            <a:off x="2011680" y="4160520"/>
            <a:ext cx="1554480" cy="685800"/>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GPU memory</a:t>
            </a:r>
            <a:endParaRPr lang="en-US" sz="1000" dirty="0"/>
          </a:p>
        </p:txBody>
      </p:sp>
      <p:sp>
        <p:nvSpPr>
          <p:cNvPr id="11" name="Text 9"/>
          <p:cNvSpPr/>
          <p:nvPr/>
        </p:nvSpPr>
        <p:spPr>
          <a:xfrm>
            <a:off x="4343400" y="4160520"/>
            <a:ext cx="1554480" cy="685800"/>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Host memory</a:t>
            </a:r>
            <a:endParaRPr lang="en-US" sz="1000" dirty="0"/>
          </a:p>
        </p:txBody>
      </p:sp>
      <p:sp>
        <p:nvSpPr>
          <p:cNvPr id="12" name="Text 10"/>
          <p:cNvSpPr/>
          <p:nvPr/>
        </p:nvSpPr>
        <p:spPr>
          <a:xfrm>
            <a:off x="6675120" y="4160520"/>
            <a:ext cx="1554480" cy="685800"/>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SSD / filesystem</a:t>
            </a:r>
            <a:endParaRPr lang="en-US" sz="1000" dirty="0"/>
          </a:p>
        </p:txBody>
      </p:sp>
      <p:sp>
        <p:nvSpPr>
          <p:cNvPr id="13" name="Text 11"/>
          <p:cNvSpPr/>
          <p:nvPr/>
        </p:nvSpPr>
        <p:spPr>
          <a:xfrm>
            <a:off x="9006840" y="4160520"/>
            <a:ext cx="1554480" cy="685800"/>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000" b="1" dirty="0">
                <a:solidFill>
                  <a:srgbClr val="000000"/>
                </a:solidFill>
                <a:latin typeface="Aptos" pitchFamily="34" charset="0"/>
                <a:ea typeface="Aptos" pitchFamily="34" charset="-122"/>
                <a:cs typeface="Aptos" pitchFamily="34" charset="-120"/>
              </a:rPr>
              <a:t>Object / cloud</a:t>
            </a:r>
            <a:endParaRPr lang="en-US" sz="1000" dirty="0"/>
          </a:p>
        </p:txBody>
      </p:sp>
      <p:sp>
        <p:nvSpPr>
          <p:cNvPr id="14" name="Text 12"/>
          <p:cNvSpPr/>
          <p:nvPr/>
        </p:nvSpPr>
        <p:spPr>
          <a:xfrm>
            <a:off x="1005840" y="5440680"/>
            <a:ext cx="9966960" cy="731520"/>
          </a:xfrm>
          <a:prstGeom prst="rect">
            <a:avLst/>
          </a:prstGeom>
          <a:noFill/>
          <a:ln/>
        </p:spPr>
        <p:txBody>
          <a:bodyPr wrap="square" lIns="254" tIns="254" rIns="254" bIns="254" rtlCol="0" anchor="t">
            <a:normAutofit/>
          </a:bodyPr>
          <a:lstStyle/>
          <a:p>
            <a:pPr indent="0" marL="0">
              <a:buNone/>
            </a:pPr>
            <a:r>
              <a:rPr lang="en-US" sz="1400" dirty="0">
                <a:solidFill>
                  <a:srgbClr val="000000"/>
                </a:solidFill>
                <a:latin typeface="Aptos" pitchFamily="34" charset="0"/>
                <a:ea typeface="Aptos" pitchFamily="34" charset="-122"/>
                <a:cs typeface="Aptos" pitchFamily="34" charset="-120"/>
              </a:rPr>
              <a:t>• Low-latency transport for KV cache movement</a:t>
            </a:r>
            <a:endParaRPr lang="en-US" sz="1400" dirty="0"/>
          </a:p>
          <a:p>
            <a:pPr indent="0" marL="0">
              <a:buNone/>
            </a:pPr>
            <a:r>
              <a:rPr lang="en-US" sz="1400" dirty="0">
                <a:solidFill>
                  <a:srgbClr val="000000"/>
                </a:solidFill>
                <a:latin typeface="Aptos" pitchFamily="34" charset="0"/>
                <a:ea typeface="Aptos" pitchFamily="34" charset="-122"/>
                <a:cs typeface="Aptos" pitchFamily="34" charset="-120"/>
              </a:rPr>
              <a:t>• Supports peer-to-peer and storage-backed access patterns</a:t>
            </a:r>
            <a:endParaRPr lang="en-US" sz="1400" dirty="0"/>
          </a:p>
          <a:p>
            <a:pPr indent="0" marL="0">
              <a:buNone/>
            </a:pPr>
            <a:r>
              <a:rPr lang="en-US" sz="1400" dirty="0">
                <a:solidFill>
                  <a:srgbClr val="000000"/>
                </a:solidFill>
                <a:latin typeface="Aptos" pitchFamily="34" charset="0"/>
                <a:ea typeface="Aptos" pitchFamily="34" charset="-122"/>
                <a:cs typeface="Aptos" pitchFamily="34" charset="-120"/>
              </a:rPr>
              <a:t>• Critical when prefill, decode and memory tiers are split across nodes</a:t>
            </a:r>
            <a:endParaRPr lang="en-US" sz="1400" dirty="0"/>
          </a:p>
        </p:txBody>
      </p:sp>
      <p:sp>
        <p:nvSpPr>
          <p:cNvPr id="15" name="Text 13"/>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6" name="Text 14"/>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9</a:t>
            </a:r>
            <a:endParaRPr lang="en-US" sz="650" dirty="0"/>
          </a:p>
        </p:txBody>
      </p:sp>
      <p:sp>
        <p:nvSpPr>
          <p:cNvPr id="17" name="Text 15"/>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Control path</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The Planner adapts capacity as traffic changes</a:t>
            </a:r>
            <a:endParaRPr lang="en-US" sz="3000" dirty="0"/>
          </a:p>
        </p:txBody>
      </p:sp>
      <p:sp>
        <p:nvSpPr>
          <p:cNvPr id="4" name="Text 2"/>
          <p:cNvSpPr/>
          <p:nvPr/>
        </p:nvSpPr>
        <p:spPr>
          <a:xfrm>
            <a:off x="868680" y="1874520"/>
            <a:ext cx="2103120" cy="1051560"/>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200" b="1" dirty="0">
                <a:solidFill>
                  <a:srgbClr val="000000"/>
                </a:solidFill>
                <a:latin typeface="Aptos" pitchFamily="34" charset="0"/>
                <a:ea typeface="Aptos" pitchFamily="34" charset="-122"/>
                <a:cs typeface="Aptos" pitchFamily="34" charset="-120"/>
              </a:rPr>
              <a:t>Observe</a:t>
            </a:r>
            <a:endParaRPr lang="en-US" sz="1200" dirty="0"/>
          </a:p>
          <a:p>
            <a:pPr algn="ctr" indent="0" marL="0">
              <a:buNone/>
            </a:pPr>
            <a:r>
              <a:rPr lang="en-US" sz="1200" b="1" dirty="0">
                <a:solidFill>
                  <a:srgbClr val="000000"/>
                </a:solidFill>
                <a:latin typeface="Aptos" pitchFamily="34" charset="0"/>
                <a:ea typeface="Aptos" pitchFamily="34" charset="-122"/>
                <a:cs typeface="Aptos" pitchFamily="34" charset="-120"/>
              </a:rPr>
              <a:t>load + latency + queues</a:t>
            </a:r>
            <a:endParaRPr lang="en-US" sz="1200" dirty="0"/>
          </a:p>
        </p:txBody>
      </p:sp>
      <p:sp>
        <p:nvSpPr>
          <p:cNvPr id="5" name="Text 3"/>
          <p:cNvSpPr/>
          <p:nvPr/>
        </p:nvSpPr>
        <p:spPr>
          <a:xfrm>
            <a:off x="3657600" y="1874520"/>
            <a:ext cx="2103120" cy="1051560"/>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200" b="1" dirty="0">
                <a:solidFill>
                  <a:srgbClr val="000000"/>
                </a:solidFill>
                <a:latin typeface="Aptos" pitchFamily="34" charset="0"/>
                <a:ea typeface="Aptos" pitchFamily="34" charset="-122"/>
                <a:cs typeface="Aptos" pitchFamily="34" charset="-120"/>
              </a:rPr>
              <a:t>Predict / propose</a:t>
            </a:r>
            <a:endParaRPr lang="en-US" sz="1200" dirty="0"/>
          </a:p>
          <a:p>
            <a:pPr algn="ctr" indent="0" marL="0">
              <a:buNone/>
            </a:pPr>
            <a:r>
              <a:rPr lang="en-US" sz="1200" b="1" dirty="0">
                <a:solidFill>
                  <a:srgbClr val="000000"/>
                </a:solidFill>
                <a:latin typeface="Aptos" pitchFamily="34" charset="0"/>
                <a:ea typeface="Aptos" pitchFamily="34" charset="-122"/>
                <a:cs typeface="Aptos" pitchFamily="34" charset="-120"/>
              </a:rPr>
              <a:t>capacity needs</a:t>
            </a:r>
            <a:endParaRPr lang="en-US" sz="1200" dirty="0"/>
          </a:p>
        </p:txBody>
      </p:sp>
      <p:sp>
        <p:nvSpPr>
          <p:cNvPr id="6" name="Text 4"/>
          <p:cNvSpPr/>
          <p:nvPr/>
        </p:nvSpPr>
        <p:spPr>
          <a:xfrm>
            <a:off x="6446520" y="1874520"/>
            <a:ext cx="2103120" cy="1051560"/>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200" b="1" dirty="0">
                <a:solidFill>
                  <a:srgbClr val="000000"/>
                </a:solidFill>
                <a:latin typeface="Aptos" pitchFamily="34" charset="0"/>
                <a:ea typeface="Aptos" pitchFamily="34" charset="-122"/>
                <a:cs typeface="Aptos" pitchFamily="34" charset="-120"/>
              </a:rPr>
              <a:t>Constrain</a:t>
            </a:r>
            <a:endParaRPr lang="en-US" sz="1200" dirty="0"/>
          </a:p>
          <a:p>
            <a:pPr algn="ctr" indent="0" marL="0">
              <a:buNone/>
            </a:pPr>
            <a:r>
              <a:rPr lang="en-US" sz="1200" b="1" dirty="0">
                <a:solidFill>
                  <a:srgbClr val="000000"/>
                </a:solidFill>
                <a:latin typeface="Aptos" pitchFamily="34" charset="0"/>
                <a:ea typeface="Aptos" pitchFamily="34" charset="-122"/>
                <a:cs typeface="Aptos" pitchFamily="34" charset="-120"/>
              </a:rPr>
              <a:t>GPU budget + policies</a:t>
            </a:r>
            <a:endParaRPr lang="en-US" sz="1200" dirty="0"/>
          </a:p>
        </p:txBody>
      </p:sp>
      <p:sp>
        <p:nvSpPr>
          <p:cNvPr id="7" name="Text 5"/>
          <p:cNvSpPr/>
          <p:nvPr/>
        </p:nvSpPr>
        <p:spPr>
          <a:xfrm>
            <a:off x="9235440" y="1874520"/>
            <a:ext cx="2103120" cy="1051560"/>
          </a:xfrm>
          <a:prstGeom prst="roundRect">
            <a:avLst/>
          </a:prstGeom>
          <a:solidFill>
            <a:srgbClr val="E5F6FF"/>
          </a:solidFill>
          <a:ln w="15240">
            <a:solidFill>
              <a:srgbClr val="0F62FE"/>
            </a:solidFill>
          </a:ln>
        </p:spPr>
        <p:txBody>
          <a:bodyPr wrap="square" lIns="635" tIns="635" rIns="635" bIns="635" rtlCol="0" anchor="ctr">
            <a:normAutofit/>
          </a:bodyPr>
          <a:lstStyle/>
          <a:p>
            <a:pPr algn="ctr" indent="0" marL="0">
              <a:buNone/>
            </a:pPr>
            <a:r>
              <a:rPr lang="en-US" sz="1200" b="1" dirty="0">
                <a:solidFill>
                  <a:srgbClr val="000000"/>
                </a:solidFill>
                <a:latin typeface="Aptos" pitchFamily="34" charset="0"/>
                <a:ea typeface="Aptos" pitchFamily="34" charset="-122"/>
                <a:cs typeface="Aptos" pitchFamily="34" charset="-120"/>
              </a:rPr>
              <a:t>Execute</a:t>
            </a:r>
            <a:endParaRPr lang="en-US" sz="1200" dirty="0"/>
          </a:p>
          <a:p>
            <a:pPr algn="ctr" indent="0" marL="0">
              <a:buNone/>
            </a:pPr>
            <a:r>
              <a:rPr lang="en-US" sz="1200" b="1" dirty="0">
                <a:solidFill>
                  <a:srgbClr val="000000"/>
                </a:solidFill>
                <a:latin typeface="Aptos" pitchFamily="34" charset="0"/>
                <a:ea typeface="Aptos" pitchFamily="34" charset="-122"/>
                <a:cs typeface="Aptos" pitchFamily="34" charset="-120"/>
              </a:rPr>
              <a:t>scale / placement changes</a:t>
            </a:r>
            <a:endParaRPr lang="en-US" sz="1200" dirty="0"/>
          </a:p>
        </p:txBody>
      </p:sp>
      <p:sp>
        <p:nvSpPr>
          <p:cNvPr id="8" name="Shape 6"/>
          <p:cNvSpPr/>
          <p:nvPr/>
        </p:nvSpPr>
        <p:spPr>
          <a:xfrm>
            <a:off x="3063240" y="2395728"/>
            <a:ext cx="548640" cy="0"/>
          </a:xfrm>
          <a:prstGeom prst="line">
            <a:avLst/>
          </a:prstGeom>
          <a:noFill/>
          <a:ln w="19050">
            <a:solidFill>
              <a:srgbClr val="0F62FE"/>
            </a:solidFill>
            <a:prstDash val="solid"/>
            <a:headEnd type="none"/>
            <a:tailEnd type="triangle"/>
          </a:ln>
        </p:spPr>
      </p:sp>
      <p:sp>
        <p:nvSpPr>
          <p:cNvPr id="9" name="Shape 7"/>
          <p:cNvSpPr/>
          <p:nvPr/>
        </p:nvSpPr>
        <p:spPr>
          <a:xfrm>
            <a:off x="5852160" y="2395728"/>
            <a:ext cx="548640" cy="0"/>
          </a:xfrm>
          <a:prstGeom prst="line">
            <a:avLst/>
          </a:prstGeom>
          <a:noFill/>
          <a:ln w="19050">
            <a:solidFill>
              <a:srgbClr val="0F62FE"/>
            </a:solidFill>
            <a:prstDash val="solid"/>
            <a:headEnd type="none"/>
            <a:tailEnd type="triangle"/>
          </a:ln>
        </p:spPr>
      </p:sp>
      <p:sp>
        <p:nvSpPr>
          <p:cNvPr id="10" name="Shape 8"/>
          <p:cNvSpPr/>
          <p:nvPr/>
        </p:nvSpPr>
        <p:spPr>
          <a:xfrm>
            <a:off x="8641080" y="2395728"/>
            <a:ext cx="548640" cy="0"/>
          </a:xfrm>
          <a:prstGeom prst="line">
            <a:avLst/>
          </a:prstGeom>
          <a:noFill/>
          <a:ln w="19050">
            <a:solidFill>
              <a:srgbClr val="0F62FE"/>
            </a:solidFill>
            <a:prstDash val="solid"/>
            <a:headEnd type="none"/>
            <a:tailEnd type="triangle"/>
          </a:ln>
        </p:spPr>
      </p:sp>
      <p:sp>
        <p:nvSpPr>
          <p:cNvPr id="11" name="Text 9"/>
          <p:cNvSpPr/>
          <p:nvPr/>
        </p:nvSpPr>
        <p:spPr>
          <a:xfrm>
            <a:off x="868680" y="3794760"/>
            <a:ext cx="2834640" cy="347472"/>
          </a:xfrm>
          <a:prstGeom prst="rect">
            <a:avLst/>
          </a:prstGeom>
          <a:solidFill>
            <a:srgbClr val="BAE6FF"/>
          </a:solidFill>
          <a:ln>
            <a:solidFill>
              <a:srgbClr val="BAE6FF"/>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Examples of what changes</a:t>
            </a:r>
            <a:endParaRPr lang="en-US" sz="1050" dirty="0"/>
          </a:p>
        </p:txBody>
      </p:sp>
      <p:sp>
        <p:nvSpPr>
          <p:cNvPr id="12" name="Text 10"/>
          <p:cNvSpPr/>
          <p:nvPr/>
        </p:nvSpPr>
        <p:spPr>
          <a:xfrm>
            <a:off x="960120" y="4434840"/>
            <a:ext cx="4572000" cy="1051560"/>
          </a:xfrm>
          <a:prstGeom prst="rect">
            <a:avLst/>
          </a:prstGeom>
          <a:noFill/>
          <a:ln/>
        </p:spPr>
        <p:txBody>
          <a:bodyPr wrap="square" lIns="254" tIns="254" rIns="254" bIns="254" rtlCol="0" anchor="t">
            <a:normAutofit/>
          </a:bodyPr>
          <a:lstStyle/>
          <a:p>
            <a:pPr indent="0" marL="0">
              <a:buNone/>
            </a:pPr>
            <a:r>
              <a:rPr lang="en-US" sz="1450" dirty="0">
                <a:solidFill>
                  <a:srgbClr val="000000"/>
                </a:solidFill>
                <a:latin typeface="Aptos" pitchFamily="34" charset="0"/>
                <a:ea typeface="Aptos" pitchFamily="34" charset="-122"/>
                <a:cs typeface="Aptos" pitchFamily="34" charset="-120"/>
              </a:rPr>
              <a:t>• More prefill workers when long prompts dominate</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More decode workers when many generations are active</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Scale down idle capacity to protect cost</a:t>
            </a:r>
            <a:endParaRPr lang="en-US" sz="1450" dirty="0"/>
          </a:p>
        </p:txBody>
      </p:sp>
      <p:sp>
        <p:nvSpPr>
          <p:cNvPr id="13" name="Text 11"/>
          <p:cNvSpPr/>
          <p:nvPr/>
        </p:nvSpPr>
        <p:spPr>
          <a:xfrm>
            <a:off x="6446520" y="4251960"/>
            <a:ext cx="4846320" cy="868680"/>
          </a:xfrm>
          <a:prstGeom prst="rect">
            <a:avLst/>
          </a:prstGeom>
          <a:noFill/>
          <a:ln/>
        </p:spPr>
        <p:txBody>
          <a:bodyPr wrap="square" lIns="635" tIns="635" rIns="635" bIns="635" rtlCol="0" anchor="t">
            <a:normAutofit/>
          </a:bodyPr>
          <a:lstStyle/>
          <a:p>
            <a:pPr algn="l" indent="0" marL="0">
              <a:buNone/>
            </a:pPr>
            <a:r>
              <a:rPr lang="en-US" sz="1600" dirty="0">
                <a:solidFill>
                  <a:srgbClr val="000000"/>
                </a:solidFill>
                <a:latin typeface="Aptos" pitchFamily="34" charset="0"/>
                <a:ea typeface="Aptos" pitchFamily="34" charset="-122"/>
                <a:cs typeface="Aptos" pitchFamily="34" charset="-120"/>
              </a:rPr>
              <a:t>The difference from generic autoscaling: Dynamo has LLM-specific signals and roles, not just CPU/GPU utilization.</a:t>
            </a:r>
            <a:endParaRPr lang="en-US" sz="1600" dirty="0"/>
          </a:p>
        </p:txBody>
      </p:sp>
      <p:sp>
        <p:nvSpPr>
          <p:cNvPr id="14" name="Text 12"/>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5" name="Text 13"/>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10</a:t>
            </a:r>
            <a:endParaRPr lang="en-US" sz="650" dirty="0"/>
          </a:p>
        </p:txBody>
      </p:sp>
      <p:sp>
        <p:nvSpPr>
          <p:cNvPr id="16" name="Text 14"/>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Where Dynamo fits</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Dynamo coordinates engines that still do the model execution</a:t>
            </a:r>
            <a:endParaRPr lang="en-US" sz="3000" dirty="0"/>
          </a:p>
        </p:txBody>
      </p:sp>
      <p:sp>
        <p:nvSpPr>
          <p:cNvPr id="4" name="Text 2"/>
          <p:cNvSpPr/>
          <p:nvPr/>
        </p:nvSpPr>
        <p:spPr>
          <a:xfrm>
            <a:off x="960120" y="1600200"/>
            <a:ext cx="10241280" cy="438912"/>
          </a:xfrm>
          <a:prstGeom prst="rect">
            <a:avLst/>
          </a:prstGeom>
          <a:solidFill>
            <a:srgbClr val="F4F4F4"/>
          </a:solidFill>
          <a:ln>
            <a:solidFill>
              <a:srgbClr val="F4F4F4"/>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Application / agent / API caller</a:t>
            </a:r>
            <a:endParaRPr lang="en-US" sz="1050" dirty="0"/>
          </a:p>
        </p:txBody>
      </p:sp>
      <p:sp>
        <p:nvSpPr>
          <p:cNvPr id="5" name="Text 3"/>
          <p:cNvSpPr/>
          <p:nvPr/>
        </p:nvSpPr>
        <p:spPr>
          <a:xfrm>
            <a:off x="960120" y="2331720"/>
            <a:ext cx="10241280" cy="566928"/>
          </a:xfrm>
          <a:prstGeom prst="rect">
            <a:avLst/>
          </a:prstGeom>
          <a:solidFill>
            <a:srgbClr val="BAE6FF"/>
          </a:solidFill>
          <a:ln>
            <a:solidFill>
              <a:srgbClr val="BAE6FF"/>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Dynamo: frontend, router, planner, KVBM, NIXL, distributed runtime</a:t>
            </a:r>
            <a:endParaRPr lang="en-US" sz="1050" dirty="0"/>
          </a:p>
        </p:txBody>
      </p:sp>
      <p:sp>
        <p:nvSpPr>
          <p:cNvPr id="6" name="Text 4"/>
          <p:cNvSpPr/>
          <p:nvPr/>
        </p:nvSpPr>
        <p:spPr>
          <a:xfrm>
            <a:off x="960120" y="3218688"/>
            <a:ext cx="10241280" cy="530352"/>
          </a:xfrm>
          <a:prstGeom prst="rect">
            <a:avLst/>
          </a:prstGeom>
          <a:solidFill>
            <a:srgbClr val="FFFFFF"/>
          </a:solidFill>
          <a:ln>
            <a:solidFill>
              <a:srgbClr val="FFFFFF"/>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Backend engines: vLLM, TensorRT-LLM, SGLang</a:t>
            </a:r>
            <a:endParaRPr lang="en-US" sz="1050" dirty="0"/>
          </a:p>
        </p:txBody>
      </p:sp>
      <p:sp>
        <p:nvSpPr>
          <p:cNvPr id="7" name="Text 5"/>
          <p:cNvSpPr/>
          <p:nvPr/>
        </p:nvSpPr>
        <p:spPr>
          <a:xfrm>
            <a:off x="960120" y="4069080"/>
            <a:ext cx="10241280" cy="530352"/>
          </a:xfrm>
          <a:prstGeom prst="rect">
            <a:avLst/>
          </a:prstGeom>
          <a:solidFill>
            <a:srgbClr val="F4F4F4"/>
          </a:solidFill>
          <a:ln>
            <a:solidFill>
              <a:srgbClr val="F4F4F4"/>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GPU nodes + memory tiers + network / storage</a:t>
            </a:r>
            <a:endParaRPr lang="en-US" sz="1050" dirty="0"/>
          </a:p>
        </p:txBody>
      </p:sp>
      <p:sp>
        <p:nvSpPr>
          <p:cNvPr id="8" name="Text 6"/>
          <p:cNvSpPr/>
          <p:nvPr/>
        </p:nvSpPr>
        <p:spPr>
          <a:xfrm>
            <a:off x="1051560" y="5074920"/>
            <a:ext cx="9921240" cy="868680"/>
          </a:xfrm>
          <a:prstGeom prst="rect">
            <a:avLst/>
          </a:prstGeom>
          <a:noFill/>
          <a:ln/>
        </p:spPr>
        <p:txBody>
          <a:bodyPr wrap="square" lIns="254" tIns="254" rIns="254" bIns="254" rtlCol="0" anchor="t">
            <a:normAutofit/>
          </a:bodyPr>
          <a:lstStyle/>
          <a:p>
            <a:pPr indent="0" marL="0">
              <a:buNone/>
            </a:pPr>
            <a:r>
              <a:rPr lang="en-US" sz="1450" dirty="0">
                <a:solidFill>
                  <a:srgbClr val="000000"/>
                </a:solidFill>
                <a:latin typeface="Aptos" pitchFamily="34" charset="0"/>
                <a:ea typeface="Aptos" pitchFamily="34" charset="-122"/>
                <a:cs typeface="Aptos" pitchFamily="34" charset="-120"/>
              </a:rPr>
              <a:t>• vLLM-style engines optimize execution inside a node or worker</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Dynamo adds the cluster-level view across many workers</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The boundary matters: sell Dynamo as distributed serving architecture, not just “another backend”</a:t>
            </a:r>
            <a:endParaRPr lang="en-US" sz="1450" dirty="0"/>
          </a:p>
        </p:txBody>
      </p:sp>
      <p:sp>
        <p:nvSpPr>
          <p:cNvPr id="9" name="Text 7"/>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0" name="Text 8"/>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11</a:t>
            </a:r>
            <a:endParaRPr lang="en-US" sz="650" dirty="0"/>
          </a:p>
        </p:txBody>
      </p:sp>
      <p:sp>
        <p:nvSpPr>
          <p:cNvPr id="11" name="Text 9"/>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Deployment model</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Dynamo can run as a standalone stack or inside larger platforms</a:t>
            </a:r>
            <a:endParaRPr lang="en-US" sz="3000" dirty="0"/>
          </a:p>
        </p:txBody>
      </p:sp>
      <p:sp>
        <p:nvSpPr>
          <p:cNvPr id="4" name="Text 2"/>
          <p:cNvSpPr/>
          <p:nvPr/>
        </p:nvSpPr>
        <p:spPr>
          <a:xfrm>
            <a:off x="868680" y="1691640"/>
            <a:ext cx="2926080" cy="1234440"/>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300" b="1" dirty="0">
                <a:solidFill>
                  <a:srgbClr val="000000"/>
                </a:solidFill>
                <a:latin typeface="Aptos" pitchFamily="34" charset="0"/>
                <a:ea typeface="Aptos" pitchFamily="34" charset="-122"/>
                <a:cs typeface="Aptos" pitchFamily="34" charset="-120"/>
              </a:rPr>
              <a:t>Standalone</a:t>
            </a:r>
            <a:endParaRPr lang="en-US" sz="1300" dirty="0"/>
          </a:p>
          <a:p>
            <a:pPr algn="ctr" indent="0" marL="0">
              <a:buNone/>
            </a:pPr>
            <a:r>
              <a:rPr lang="en-US" sz="1300" b="1" dirty="0">
                <a:solidFill>
                  <a:srgbClr val="000000"/>
                </a:solidFill>
                <a:latin typeface="Aptos" pitchFamily="34" charset="0"/>
                <a:ea typeface="Aptos" pitchFamily="34" charset="-122"/>
                <a:cs typeface="Aptos" pitchFamily="34" charset="-120"/>
              </a:rPr>
              <a:t>Dynamo frontend + runtime</a:t>
            </a:r>
            <a:endParaRPr lang="en-US" sz="1300" dirty="0"/>
          </a:p>
        </p:txBody>
      </p:sp>
      <p:sp>
        <p:nvSpPr>
          <p:cNvPr id="5" name="Text 3"/>
          <p:cNvSpPr/>
          <p:nvPr/>
        </p:nvSpPr>
        <p:spPr>
          <a:xfrm>
            <a:off x="4617720" y="1691640"/>
            <a:ext cx="2926080" cy="1234440"/>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300" b="1" dirty="0">
                <a:solidFill>
                  <a:srgbClr val="000000"/>
                </a:solidFill>
                <a:latin typeface="Aptos" pitchFamily="34" charset="0"/>
                <a:ea typeface="Aptos" pitchFamily="34" charset="-122"/>
                <a:cs typeface="Aptos" pitchFamily="34" charset="-120"/>
              </a:rPr>
              <a:t>Kubernetes / Grove</a:t>
            </a:r>
            <a:endParaRPr lang="en-US" sz="1300" dirty="0"/>
          </a:p>
          <a:p>
            <a:pPr algn="ctr" indent="0" marL="0">
              <a:buNone/>
            </a:pPr>
            <a:r>
              <a:rPr lang="en-US" sz="1300" b="1" dirty="0">
                <a:solidFill>
                  <a:srgbClr val="000000"/>
                </a:solidFill>
                <a:latin typeface="Aptos" pitchFamily="34" charset="0"/>
                <a:ea typeface="Aptos" pitchFamily="34" charset="-122"/>
                <a:cs typeface="Aptos" pitchFamily="34" charset="-120"/>
              </a:rPr>
              <a:t>operator-managed workers</a:t>
            </a:r>
            <a:endParaRPr lang="en-US" sz="1300" dirty="0"/>
          </a:p>
        </p:txBody>
      </p:sp>
      <p:sp>
        <p:nvSpPr>
          <p:cNvPr id="6" name="Text 4"/>
          <p:cNvSpPr/>
          <p:nvPr/>
        </p:nvSpPr>
        <p:spPr>
          <a:xfrm>
            <a:off x="8366760" y="1691640"/>
            <a:ext cx="2926080" cy="1234440"/>
          </a:xfrm>
          <a:prstGeom prst="roundRect">
            <a:avLst/>
          </a:prstGeom>
          <a:solidFill>
            <a:srgbClr val="FFFFFF"/>
          </a:solidFill>
          <a:ln w="15240">
            <a:solidFill>
              <a:srgbClr val="0F62FE"/>
            </a:solidFill>
          </a:ln>
        </p:spPr>
        <p:txBody>
          <a:bodyPr wrap="square" lIns="635" tIns="635" rIns="635" bIns="635" rtlCol="0" anchor="ctr">
            <a:normAutofit/>
          </a:bodyPr>
          <a:lstStyle/>
          <a:p>
            <a:pPr algn="ctr" indent="0" marL="0">
              <a:buNone/>
            </a:pPr>
            <a:r>
              <a:rPr lang="en-US" sz="1300" b="1" dirty="0">
                <a:solidFill>
                  <a:srgbClr val="000000"/>
                </a:solidFill>
                <a:latin typeface="Aptos" pitchFamily="34" charset="0"/>
                <a:ea typeface="Aptos" pitchFamily="34" charset="-122"/>
                <a:cs typeface="Aptos" pitchFamily="34" charset="-120"/>
              </a:rPr>
              <a:t>LLM-D / platform layer</a:t>
            </a:r>
            <a:endParaRPr lang="en-US" sz="1300" dirty="0"/>
          </a:p>
          <a:p>
            <a:pPr algn="ctr" indent="0" marL="0">
              <a:buNone/>
            </a:pPr>
            <a:r>
              <a:rPr lang="en-US" sz="1300" b="1" dirty="0">
                <a:solidFill>
                  <a:srgbClr val="000000"/>
                </a:solidFill>
                <a:latin typeface="Aptos" pitchFamily="34" charset="0"/>
                <a:ea typeface="Aptos" pitchFamily="34" charset="-122"/>
                <a:cs typeface="Aptos" pitchFamily="34" charset="-120"/>
              </a:rPr>
              <a:t>uses Dynamo components</a:t>
            </a:r>
            <a:endParaRPr lang="en-US" sz="1300" dirty="0"/>
          </a:p>
        </p:txBody>
      </p:sp>
      <p:sp>
        <p:nvSpPr>
          <p:cNvPr id="7" name="Text 5"/>
          <p:cNvSpPr/>
          <p:nvPr/>
        </p:nvSpPr>
        <p:spPr>
          <a:xfrm>
            <a:off x="868680" y="3657600"/>
            <a:ext cx="10378440" cy="1371600"/>
          </a:xfrm>
          <a:prstGeom prst="rect">
            <a:avLst/>
          </a:prstGeom>
          <a:noFill/>
          <a:ln/>
        </p:spPr>
        <p:txBody>
          <a:bodyPr wrap="square" lIns="254" tIns="254" rIns="254" bIns="254" rtlCol="0" anchor="t">
            <a:normAutofit/>
          </a:bodyPr>
          <a:lstStyle/>
          <a:p>
            <a:pPr indent="0" marL="0">
              <a:buNone/>
            </a:pPr>
            <a:r>
              <a:rPr lang="en-US" sz="1450" dirty="0">
                <a:solidFill>
                  <a:srgbClr val="000000"/>
                </a:solidFill>
                <a:latin typeface="Aptos" pitchFamily="34" charset="0"/>
                <a:ea typeface="Aptos" pitchFamily="34" charset="-122"/>
                <a:cs typeface="Aptos" pitchFamily="34" charset="-120"/>
              </a:rPr>
              <a:t>• Good for demos, dev or direct Dynamo entry point</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Useful when customers already operate GPU fleets on Kubernetes</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LLM-D can handle higher-level routing while Dynamo components provide serving primitives</a:t>
            </a:r>
            <a:endParaRPr lang="en-US" sz="1450" dirty="0"/>
          </a:p>
        </p:txBody>
      </p:sp>
      <p:sp>
        <p:nvSpPr>
          <p:cNvPr id="8" name="Text 6"/>
          <p:cNvSpPr/>
          <p:nvPr/>
        </p:nvSpPr>
        <p:spPr>
          <a:xfrm>
            <a:off x="960120" y="5577840"/>
            <a:ext cx="9875520" cy="347472"/>
          </a:xfrm>
          <a:prstGeom prst="rect">
            <a:avLst/>
          </a:prstGeom>
          <a:noFill/>
          <a:ln/>
        </p:spPr>
        <p:txBody>
          <a:bodyPr wrap="square" lIns="635" tIns="635" rIns="635" bIns="635" rtlCol="0" anchor="t">
            <a:normAutofit/>
          </a:bodyPr>
          <a:lstStyle/>
          <a:p>
            <a:pPr algn="l" indent="0" marL="0">
              <a:buNone/>
            </a:pPr>
            <a:r>
              <a:rPr lang="en-US" sz="1200" dirty="0">
                <a:solidFill>
                  <a:srgbClr val="525252"/>
                </a:solidFill>
                <a:latin typeface="Aptos" pitchFamily="34" charset="0"/>
                <a:ea typeface="Aptos" pitchFamily="34" charset="-122"/>
                <a:cs typeface="Aptos" pitchFamily="34" charset="-120"/>
              </a:rPr>
              <a:t>Image placeholder if available: customer-specific deployment topology or IBM/NVIDIA reference architecture.</a:t>
            </a:r>
            <a:endParaRPr lang="en-US" sz="1200" dirty="0"/>
          </a:p>
        </p:txBody>
      </p:sp>
      <p:sp>
        <p:nvSpPr>
          <p:cNvPr id="9" name="Text 7"/>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0" name="Text 8"/>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12</a:t>
            </a:r>
            <a:endParaRPr lang="en-US" sz="650" dirty="0"/>
          </a:p>
        </p:txBody>
      </p:sp>
      <p:sp>
        <p:nvSpPr>
          <p:cNvPr id="11" name="Text 9"/>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Planning before deployment</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DynoSim helps choose an architecture before burning GPU time</a:t>
            </a:r>
            <a:endParaRPr lang="en-US" sz="3000" dirty="0"/>
          </a:p>
        </p:txBody>
      </p:sp>
      <p:sp>
        <p:nvSpPr>
          <p:cNvPr id="4" name="Text 2"/>
          <p:cNvSpPr/>
          <p:nvPr/>
        </p:nvSpPr>
        <p:spPr>
          <a:xfrm>
            <a:off x="777240" y="1828800"/>
            <a:ext cx="2194560" cy="1005840"/>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Workload trace</a:t>
            </a:r>
            <a:endParaRPr lang="en-US" sz="1100" dirty="0"/>
          </a:p>
          <a:p>
            <a:pPr algn="ctr" indent="0" marL="0">
              <a:buNone/>
            </a:pPr>
            <a:r>
              <a:rPr lang="en-US" sz="1100" b="1" dirty="0">
                <a:solidFill>
                  <a:srgbClr val="000000"/>
                </a:solidFill>
                <a:latin typeface="Aptos" pitchFamily="34" charset="0"/>
                <a:ea typeface="Aptos" pitchFamily="34" charset="-122"/>
                <a:cs typeface="Aptos" pitchFamily="34" charset="-120"/>
              </a:rPr>
              <a:t>model + traffic shape</a:t>
            </a:r>
            <a:endParaRPr lang="en-US" sz="1100" dirty="0"/>
          </a:p>
        </p:txBody>
      </p:sp>
      <p:sp>
        <p:nvSpPr>
          <p:cNvPr id="5" name="Text 3"/>
          <p:cNvSpPr/>
          <p:nvPr/>
        </p:nvSpPr>
        <p:spPr>
          <a:xfrm>
            <a:off x="3749040" y="1691640"/>
            <a:ext cx="2423160" cy="1280160"/>
          </a:xfrm>
          <a:prstGeom prst="roundRect">
            <a:avLst/>
          </a:prstGeom>
          <a:solidFill>
            <a:srgbClr val="E5F6FF"/>
          </a:solidFill>
          <a:ln w="15240">
            <a:solidFill>
              <a:srgbClr val="0F62FE"/>
            </a:solidFill>
          </a:ln>
        </p:spPr>
        <p:txBody>
          <a:bodyPr wrap="square" lIns="635" tIns="635" rIns="635" bIns="635" rtlCol="0" anchor="ctr">
            <a:normAutofit/>
          </a:bodyPr>
          <a:lstStyle/>
          <a:p>
            <a:pPr algn="ctr" indent="0" marL="0">
              <a:buNone/>
            </a:pPr>
            <a:r>
              <a:rPr lang="en-US" sz="1400" b="1" dirty="0">
                <a:solidFill>
                  <a:srgbClr val="000000"/>
                </a:solidFill>
                <a:latin typeface="Aptos" pitchFamily="34" charset="0"/>
                <a:ea typeface="Aptos" pitchFamily="34" charset="-122"/>
                <a:cs typeface="Aptos" pitchFamily="34" charset="-120"/>
              </a:rPr>
              <a:t>DynoSim</a:t>
            </a:r>
            <a:endParaRPr lang="en-US" sz="1400" dirty="0"/>
          </a:p>
          <a:p>
            <a:pPr algn="ctr" indent="0" marL="0">
              <a:buNone/>
            </a:pPr>
            <a:r>
              <a:rPr lang="en-US" sz="1400" b="1" dirty="0">
                <a:solidFill>
                  <a:srgbClr val="000000"/>
                </a:solidFill>
                <a:latin typeface="Aptos" pitchFamily="34" charset="0"/>
                <a:ea typeface="Aptos" pitchFamily="34" charset="-122"/>
                <a:cs typeface="Aptos" pitchFamily="34" charset="-120"/>
              </a:rPr>
              <a:t>simulation run / sweep</a:t>
            </a:r>
            <a:endParaRPr lang="en-US" sz="1400" dirty="0"/>
          </a:p>
        </p:txBody>
      </p:sp>
      <p:sp>
        <p:nvSpPr>
          <p:cNvPr id="6" name="Text 4"/>
          <p:cNvSpPr/>
          <p:nvPr/>
        </p:nvSpPr>
        <p:spPr>
          <a:xfrm>
            <a:off x="6949440" y="1828800"/>
            <a:ext cx="2194560" cy="1005840"/>
          </a:xfrm>
          <a:prstGeom prst="roundRect">
            <a:avLst/>
          </a:prstGeom>
          <a:solidFill>
            <a:srgbClr val="FFFFFF"/>
          </a:solidFill>
          <a:ln w="15240">
            <a:solidFill>
              <a:srgbClr val="A8A8A8"/>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Candidate config</a:t>
            </a:r>
            <a:endParaRPr lang="en-US" sz="1100" dirty="0"/>
          </a:p>
          <a:p>
            <a:pPr algn="ctr" indent="0" marL="0">
              <a:buNone/>
            </a:pPr>
            <a:r>
              <a:rPr lang="en-US" sz="1100" b="1" dirty="0">
                <a:solidFill>
                  <a:srgbClr val="000000"/>
                </a:solidFill>
                <a:latin typeface="Aptos" pitchFamily="34" charset="0"/>
                <a:ea typeface="Aptos" pitchFamily="34" charset="-122"/>
                <a:cs typeface="Aptos" pitchFamily="34" charset="-120"/>
              </a:rPr>
              <a:t>prefill / decode split</a:t>
            </a:r>
            <a:endParaRPr lang="en-US" sz="1100" dirty="0"/>
          </a:p>
        </p:txBody>
      </p:sp>
      <p:sp>
        <p:nvSpPr>
          <p:cNvPr id="7" name="Text 5"/>
          <p:cNvSpPr/>
          <p:nvPr/>
        </p:nvSpPr>
        <p:spPr>
          <a:xfrm>
            <a:off x="9784080" y="1828800"/>
            <a:ext cx="1600200" cy="1005840"/>
          </a:xfrm>
          <a:prstGeom prst="roundRect">
            <a:avLst/>
          </a:prstGeom>
          <a:solidFill>
            <a:srgbClr val="FFFFFF"/>
          </a:solidFill>
          <a:ln w="15240">
            <a:solidFill>
              <a:srgbClr val="76B900"/>
            </a:solidFill>
          </a:ln>
        </p:spPr>
        <p:txBody>
          <a:bodyPr wrap="square" lIns="635" tIns="635" rIns="635" bIns="635" rtlCol="0" anchor="ctr">
            <a:normAutofit/>
          </a:bodyPr>
          <a:lstStyle/>
          <a:p>
            <a:pPr algn="ctr" indent="0" marL="0">
              <a:buNone/>
            </a:pPr>
            <a:r>
              <a:rPr lang="en-US" sz="1100" b="1" dirty="0">
                <a:solidFill>
                  <a:srgbClr val="000000"/>
                </a:solidFill>
                <a:latin typeface="Aptos" pitchFamily="34" charset="0"/>
                <a:ea typeface="Aptos" pitchFamily="34" charset="-122"/>
                <a:cs typeface="Aptos" pitchFamily="34" charset="-120"/>
              </a:rPr>
              <a:t>Validate on</a:t>
            </a:r>
            <a:endParaRPr lang="en-US" sz="1100" dirty="0"/>
          </a:p>
          <a:p>
            <a:pPr algn="ctr" indent="0" marL="0">
              <a:buNone/>
            </a:pPr>
            <a:r>
              <a:rPr lang="en-US" sz="1100" b="1" dirty="0">
                <a:solidFill>
                  <a:srgbClr val="000000"/>
                </a:solidFill>
                <a:latin typeface="Aptos" pitchFamily="34" charset="0"/>
                <a:ea typeface="Aptos" pitchFamily="34" charset="-122"/>
                <a:cs typeface="Aptos" pitchFamily="34" charset="-120"/>
              </a:rPr>
              <a:t>real GPUs</a:t>
            </a:r>
            <a:endParaRPr lang="en-US" sz="1100" dirty="0"/>
          </a:p>
        </p:txBody>
      </p:sp>
      <p:sp>
        <p:nvSpPr>
          <p:cNvPr id="8" name="Shape 6"/>
          <p:cNvSpPr/>
          <p:nvPr/>
        </p:nvSpPr>
        <p:spPr>
          <a:xfrm>
            <a:off x="3063240" y="2331720"/>
            <a:ext cx="594360" cy="0"/>
          </a:xfrm>
          <a:prstGeom prst="line">
            <a:avLst/>
          </a:prstGeom>
          <a:noFill/>
          <a:ln w="19050">
            <a:solidFill>
              <a:srgbClr val="0F62FE"/>
            </a:solidFill>
            <a:prstDash val="solid"/>
            <a:headEnd type="none"/>
            <a:tailEnd type="triangle"/>
          </a:ln>
        </p:spPr>
      </p:sp>
      <p:sp>
        <p:nvSpPr>
          <p:cNvPr id="9" name="Shape 7"/>
          <p:cNvSpPr/>
          <p:nvPr/>
        </p:nvSpPr>
        <p:spPr>
          <a:xfrm>
            <a:off x="6263640" y="2331720"/>
            <a:ext cx="594360" cy="0"/>
          </a:xfrm>
          <a:prstGeom prst="line">
            <a:avLst/>
          </a:prstGeom>
          <a:noFill/>
          <a:ln w="19050">
            <a:solidFill>
              <a:srgbClr val="0F62FE"/>
            </a:solidFill>
            <a:prstDash val="solid"/>
            <a:headEnd type="none"/>
            <a:tailEnd type="triangle"/>
          </a:ln>
        </p:spPr>
      </p:sp>
      <p:sp>
        <p:nvSpPr>
          <p:cNvPr id="10" name="Shape 8"/>
          <p:cNvSpPr/>
          <p:nvPr/>
        </p:nvSpPr>
        <p:spPr>
          <a:xfrm>
            <a:off x="9235440" y="2331720"/>
            <a:ext cx="457200" cy="0"/>
          </a:xfrm>
          <a:prstGeom prst="line">
            <a:avLst/>
          </a:prstGeom>
          <a:noFill/>
          <a:ln w="19050">
            <a:solidFill>
              <a:srgbClr val="0F62FE"/>
            </a:solidFill>
            <a:prstDash val="solid"/>
            <a:headEnd type="none"/>
            <a:tailEnd type="triangle"/>
          </a:ln>
        </p:spPr>
      </p:sp>
      <p:sp>
        <p:nvSpPr>
          <p:cNvPr id="11" name="Text 9"/>
          <p:cNvSpPr/>
          <p:nvPr/>
        </p:nvSpPr>
        <p:spPr>
          <a:xfrm>
            <a:off x="868680" y="3886200"/>
            <a:ext cx="2011680" cy="347472"/>
          </a:xfrm>
          <a:prstGeom prst="rect">
            <a:avLst/>
          </a:prstGeom>
          <a:solidFill>
            <a:srgbClr val="BAE6FF"/>
          </a:solidFill>
          <a:ln>
            <a:solidFill>
              <a:srgbClr val="BAE6FF"/>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What it is</a:t>
            </a:r>
            <a:endParaRPr lang="en-US" sz="1050" dirty="0"/>
          </a:p>
        </p:txBody>
      </p:sp>
      <p:sp>
        <p:nvSpPr>
          <p:cNvPr id="12" name="Text 10"/>
          <p:cNvSpPr/>
          <p:nvPr/>
        </p:nvSpPr>
        <p:spPr>
          <a:xfrm>
            <a:off x="960120" y="4480560"/>
            <a:ext cx="4709160" cy="1005840"/>
          </a:xfrm>
          <a:prstGeom prst="rect">
            <a:avLst/>
          </a:prstGeom>
          <a:noFill/>
          <a:ln/>
        </p:spPr>
        <p:txBody>
          <a:bodyPr wrap="square" lIns="254" tIns="254" rIns="254" bIns="254" rtlCol="0" anchor="t">
            <a:normAutofit/>
          </a:bodyPr>
          <a:lstStyle/>
          <a:p>
            <a:pPr indent="0" marL="0">
              <a:buNone/>
            </a:pPr>
            <a:r>
              <a:rPr lang="en-US" sz="1450" dirty="0">
                <a:solidFill>
                  <a:srgbClr val="000000"/>
                </a:solidFill>
                <a:latin typeface="Aptos" pitchFamily="34" charset="0"/>
                <a:ea typeface="Aptos" pitchFamily="34" charset="-122"/>
                <a:cs typeface="Aptos" pitchFamily="34" charset="-120"/>
              </a:rPr>
              <a:t>• Simulation workflow for Dynamo configurations</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Uses modeled timing plus router/planner/cache behavior</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Useful for comparing topology and GPU budget tradeoffs</a:t>
            </a:r>
            <a:endParaRPr lang="en-US" sz="1450" dirty="0"/>
          </a:p>
        </p:txBody>
      </p:sp>
      <p:sp>
        <p:nvSpPr>
          <p:cNvPr id="13" name="Text 11"/>
          <p:cNvSpPr/>
          <p:nvPr/>
        </p:nvSpPr>
        <p:spPr>
          <a:xfrm>
            <a:off x="6400800" y="3886200"/>
            <a:ext cx="2011680" cy="347472"/>
          </a:xfrm>
          <a:prstGeom prst="rect">
            <a:avLst/>
          </a:prstGeom>
          <a:solidFill>
            <a:srgbClr val="F4F4F4"/>
          </a:solidFill>
          <a:ln>
            <a:solidFill>
              <a:srgbClr val="F4F4F4"/>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What it is not</a:t>
            </a:r>
            <a:endParaRPr lang="en-US" sz="1050" dirty="0"/>
          </a:p>
        </p:txBody>
      </p:sp>
      <p:sp>
        <p:nvSpPr>
          <p:cNvPr id="14" name="Text 12"/>
          <p:cNvSpPr/>
          <p:nvPr/>
        </p:nvSpPr>
        <p:spPr>
          <a:xfrm>
            <a:off x="6492240" y="4480560"/>
            <a:ext cx="4709160" cy="1005840"/>
          </a:xfrm>
          <a:prstGeom prst="rect">
            <a:avLst/>
          </a:prstGeom>
          <a:noFill/>
          <a:ln/>
        </p:spPr>
        <p:txBody>
          <a:bodyPr wrap="square" lIns="254" tIns="254" rIns="254" bIns="254" rtlCol="0" anchor="t">
            <a:normAutofit/>
          </a:bodyPr>
          <a:lstStyle/>
          <a:p>
            <a:pPr indent="0" marL="0">
              <a:buNone/>
            </a:pPr>
            <a:r>
              <a:rPr lang="en-US" sz="1450" dirty="0">
                <a:solidFill>
                  <a:srgbClr val="000000"/>
                </a:solidFill>
                <a:latin typeface="Aptos" pitchFamily="34" charset="0"/>
                <a:ea typeface="Aptos" pitchFamily="34" charset="-122"/>
                <a:cs typeface="Aptos" pitchFamily="34" charset="-120"/>
              </a:rPr>
              <a:t>• Not real model inference</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Does not generate real tokens</a:t>
            </a:r>
            <a:endParaRPr lang="en-US" sz="1450" dirty="0"/>
          </a:p>
          <a:p>
            <a:pPr indent="0" marL="0">
              <a:buNone/>
            </a:pPr>
            <a:r>
              <a:rPr lang="en-US" sz="1450" dirty="0">
                <a:solidFill>
                  <a:srgbClr val="000000"/>
                </a:solidFill>
                <a:latin typeface="Aptos" pitchFamily="34" charset="0"/>
                <a:ea typeface="Aptos" pitchFamily="34" charset="-122"/>
                <a:cs typeface="Aptos" pitchFamily="34" charset="-120"/>
              </a:rPr>
              <a:t>• Not a replacement for final hardware validation</a:t>
            </a:r>
            <a:endParaRPr lang="en-US" sz="1450" dirty="0"/>
          </a:p>
        </p:txBody>
      </p:sp>
      <p:sp>
        <p:nvSpPr>
          <p:cNvPr id="15" name="Text 13"/>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6" name="Text 14"/>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13</a:t>
            </a:r>
            <a:endParaRPr lang="en-US" sz="650" dirty="0"/>
          </a:p>
        </p:txBody>
      </p:sp>
      <p:sp>
        <p:nvSpPr>
          <p:cNvPr id="17" name="Text 15"/>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Sales translation</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What the IBM sales team should listen for</a:t>
            </a:r>
            <a:endParaRPr lang="en-US" sz="3000" dirty="0"/>
          </a:p>
        </p:txBody>
      </p:sp>
      <p:sp>
        <p:nvSpPr>
          <p:cNvPr id="4" name="Text 2"/>
          <p:cNvSpPr/>
          <p:nvPr/>
        </p:nvSpPr>
        <p:spPr>
          <a:xfrm>
            <a:off x="822960" y="1508760"/>
            <a:ext cx="2423160" cy="1325880"/>
          </a:xfrm>
          <a:prstGeom prst="rect">
            <a:avLst/>
          </a:prstGeom>
          <a:solidFill>
            <a:srgbClr val="F4F4F4"/>
          </a:solidFill>
          <a:ln w="12700">
            <a:solidFill>
              <a:srgbClr val="E0E0E0"/>
            </a:solidFill>
          </a:ln>
        </p:spPr>
        <p:txBody>
          <a:bodyPr wrap="square" lIns="1524" tIns="1524" rIns="1524" bIns="1524" rtlCol="0" anchor="t">
            <a:normAutofit/>
          </a:bodyPr>
          <a:lstStyle/>
          <a:p>
            <a:pPr indent="0" marL="0">
              <a:buNone/>
            </a:pPr>
            <a:r>
              <a:rPr lang="en-US" sz="1200" dirty="0">
                <a:solidFill>
                  <a:srgbClr val="000000"/>
                </a:solidFill>
                <a:latin typeface="Aptos" pitchFamily="34" charset="0"/>
                <a:ea typeface="Aptos" pitchFamily="34" charset="-122"/>
                <a:cs typeface="Aptos" pitchFamily="34" charset="-120"/>
              </a:rPr>
              <a:t>Customer pain</a:t>
            </a:r>
            <a:endParaRPr lang="en-US" sz="1200" dirty="0"/>
          </a:p>
          <a:p>
            <a:pPr indent="0" marL="0">
              <a:buNone/>
            </a:pPr>
            <a:r>
              <a:rPr lang="en-US" sz="1200" dirty="0">
                <a:solidFill>
                  <a:srgbClr val="000000"/>
                </a:solidFill>
                <a:latin typeface="Aptos" pitchFamily="34" charset="0"/>
                <a:ea typeface="Aptos" pitchFamily="34" charset="-122"/>
                <a:cs typeface="Aptos" pitchFamily="34" charset="-120"/>
              </a:rPr>
              <a:t>“Our GenAI app slows down under bursty traffic.”</a:t>
            </a:r>
            <a:endParaRPr lang="en-US" sz="1200" dirty="0"/>
          </a:p>
        </p:txBody>
      </p:sp>
      <p:sp>
        <p:nvSpPr>
          <p:cNvPr id="5" name="Text 3"/>
          <p:cNvSpPr/>
          <p:nvPr/>
        </p:nvSpPr>
        <p:spPr>
          <a:xfrm>
            <a:off x="3520440" y="1508760"/>
            <a:ext cx="2423160" cy="1325880"/>
          </a:xfrm>
          <a:prstGeom prst="rect">
            <a:avLst/>
          </a:prstGeom>
          <a:solidFill>
            <a:srgbClr val="F4F4F4"/>
          </a:solidFill>
          <a:ln w="12700">
            <a:solidFill>
              <a:srgbClr val="E0E0E0"/>
            </a:solidFill>
          </a:ln>
        </p:spPr>
        <p:txBody>
          <a:bodyPr wrap="square" lIns="1524" tIns="1524" rIns="1524" bIns="1524" rtlCol="0" anchor="t">
            <a:normAutofit/>
          </a:bodyPr>
          <a:lstStyle/>
          <a:p>
            <a:pPr indent="0" marL="0">
              <a:buNone/>
            </a:pPr>
            <a:r>
              <a:rPr lang="en-US" sz="1200" dirty="0">
                <a:solidFill>
                  <a:srgbClr val="000000"/>
                </a:solidFill>
                <a:latin typeface="Aptos" pitchFamily="34" charset="0"/>
                <a:ea typeface="Aptos" pitchFamily="34" charset="-122"/>
                <a:cs typeface="Aptos" pitchFamily="34" charset="-120"/>
              </a:rPr>
              <a:t>Customer pain</a:t>
            </a:r>
            <a:endParaRPr lang="en-US" sz="1200" dirty="0"/>
          </a:p>
          <a:p>
            <a:pPr indent="0" marL="0">
              <a:buNone/>
            </a:pPr>
            <a:r>
              <a:rPr lang="en-US" sz="1200" dirty="0">
                <a:solidFill>
                  <a:srgbClr val="000000"/>
                </a:solidFill>
                <a:latin typeface="Aptos" pitchFamily="34" charset="0"/>
                <a:ea typeface="Aptos" pitchFamily="34" charset="-122"/>
                <a:cs typeface="Aptos" pitchFamily="34" charset="-120"/>
              </a:rPr>
              <a:t>“GPU cost is rising faster than usage.”</a:t>
            </a:r>
            <a:endParaRPr lang="en-US" sz="1200" dirty="0"/>
          </a:p>
        </p:txBody>
      </p:sp>
      <p:sp>
        <p:nvSpPr>
          <p:cNvPr id="6" name="Text 4"/>
          <p:cNvSpPr/>
          <p:nvPr/>
        </p:nvSpPr>
        <p:spPr>
          <a:xfrm>
            <a:off x="6217920" y="1508760"/>
            <a:ext cx="2423160" cy="1325880"/>
          </a:xfrm>
          <a:prstGeom prst="rect">
            <a:avLst/>
          </a:prstGeom>
          <a:solidFill>
            <a:srgbClr val="F4F4F4"/>
          </a:solidFill>
          <a:ln w="12700">
            <a:solidFill>
              <a:srgbClr val="E0E0E0"/>
            </a:solidFill>
          </a:ln>
        </p:spPr>
        <p:txBody>
          <a:bodyPr wrap="square" lIns="1524" tIns="1524" rIns="1524" bIns="1524" rtlCol="0" anchor="t">
            <a:normAutofit/>
          </a:bodyPr>
          <a:lstStyle/>
          <a:p>
            <a:pPr indent="0" marL="0">
              <a:buNone/>
            </a:pPr>
            <a:r>
              <a:rPr lang="en-US" sz="1200" dirty="0">
                <a:solidFill>
                  <a:srgbClr val="000000"/>
                </a:solidFill>
                <a:latin typeface="Aptos" pitchFamily="34" charset="0"/>
                <a:ea typeface="Aptos" pitchFamily="34" charset="-122"/>
                <a:cs typeface="Aptos" pitchFamily="34" charset="-120"/>
              </a:rPr>
              <a:t>Customer pain</a:t>
            </a:r>
            <a:endParaRPr lang="en-US" sz="1200" dirty="0"/>
          </a:p>
          <a:p>
            <a:pPr indent="0" marL="0">
              <a:buNone/>
            </a:pPr>
            <a:r>
              <a:rPr lang="en-US" sz="1200" dirty="0">
                <a:solidFill>
                  <a:srgbClr val="000000"/>
                </a:solidFill>
                <a:latin typeface="Aptos" pitchFamily="34" charset="0"/>
                <a:ea typeface="Aptos" pitchFamily="34" charset="-122"/>
                <a:cs typeface="Aptos" pitchFamily="34" charset="-120"/>
              </a:rPr>
              <a:t>“Long context or agents are breaking memory assumptions.”</a:t>
            </a:r>
            <a:endParaRPr lang="en-US" sz="1200" dirty="0"/>
          </a:p>
        </p:txBody>
      </p:sp>
      <p:sp>
        <p:nvSpPr>
          <p:cNvPr id="7" name="Text 5"/>
          <p:cNvSpPr/>
          <p:nvPr/>
        </p:nvSpPr>
        <p:spPr>
          <a:xfrm>
            <a:off x="8915400" y="1508760"/>
            <a:ext cx="2423160" cy="1325880"/>
          </a:xfrm>
          <a:prstGeom prst="rect">
            <a:avLst/>
          </a:prstGeom>
          <a:solidFill>
            <a:srgbClr val="F4F4F4"/>
          </a:solidFill>
          <a:ln w="12700">
            <a:solidFill>
              <a:srgbClr val="E0E0E0"/>
            </a:solidFill>
          </a:ln>
        </p:spPr>
        <p:txBody>
          <a:bodyPr wrap="square" lIns="1524" tIns="1524" rIns="1524" bIns="1524" rtlCol="0" anchor="t">
            <a:normAutofit/>
          </a:bodyPr>
          <a:lstStyle/>
          <a:p>
            <a:pPr indent="0" marL="0">
              <a:buNone/>
            </a:pPr>
            <a:r>
              <a:rPr lang="en-US" sz="1200" dirty="0">
                <a:solidFill>
                  <a:srgbClr val="000000"/>
                </a:solidFill>
                <a:latin typeface="Aptos" pitchFamily="34" charset="0"/>
                <a:ea typeface="Aptos" pitchFamily="34" charset="-122"/>
                <a:cs typeface="Aptos" pitchFamily="34" charset="-120"/>
              </a:rPr>
              <a:t>Customer pain</a:t>
            </a:r>
            <a:endParaRPr lang="en-US" sz="1200" dirty="0"/>
          </a:p>
          <a:p>
            <a:pPr indent="0" marL="0">
              <a:buNone/>
            </a:pPr>
            <a:r>
              <a:rPr lang="en-US" sz="1200" dirty="0">
                <a:solidFill>
                  <a:srgbClr val="000000"/>
                </a:solidFill>
                <a:latin typeface="Aptos" pitchFamily="34" charset="0"/>
                <a:ea typeface="Aptos" pitchFamily="34" charset="-122"/>
                <a:cs typeface="Aptos" pitchFamily="34" charset="-120"/>
              </a:rPr>
              <a:t>“We need a production way to scale open-source engines.”</a:t>
            </a:r>
            <a:endParaRPr lang="en-US" sz="1200" dirty="0"/>
          </a:p>
        </p:txBody>
      </p:sp>
      <p:sp>
        <p:nvSpPr>
          <p:cNvPr id="8" name="Text 6"/>
          <p:cNvSpPr/>
          <p:nvPr/>
        </p:nvSpPr>
        <p:spPr>
          <a:xfrm>
            <a:off x="822960" y="3703320"/>
            <a:ext cx="2194560" cy="347472"/>
          </a:xfrm>
          <a:prstGeom prst="rect">
            <a:avLst/>
          </a:prstGeom>
          <a:solidFill>
            <a:srgbClr val="BAE6FF"/>
          </a:solidFill>
          <a:ln>
            <a:solidFill>
              <a:srgbClr val="BAE6FF"/>
            </a:solidFill>
          </a:ln>
        </p:spPr>
        <p:txBody>
          <a:bodyPr wrap="square" lIns="1016" tIns="1016" rIns="1016" bIns="1016" rtlCol="0" anchor="ctr"/>
          <a:lstStyle/>
          <a:p>
            <a:pPr indent="0" marL="0">
              <a:buNone/>
            </a:pPr>
            <a:r>
              <a:rPr lang="en-US" sz="1050" b="1" dirty="0">
                <a:solidFill>
                  <a:srgbClr val="000000"/>
                </a:solidFill>
                <a:latin typeface="Aptos" pitchFamily="34" charset="0"/>
                <a:ea typeface="Aptos" pitchFamily="34" charset="-122"/>
                <a:cs typeface="Aptos" pitchFamily="34" charset="-120"/>
              </a:rPr>
              <a:t>Dynamo angle</a:t>
            </a:r>
            <a:endParaRPr lang="en-US" sz="1050" dirty="0"/>
          </a:p>
        </p:txBody>
      </p:sp>
      <p:sp>
        <p:nvSpPr>
          <p:cNvPr id="9" name="Text 7"/>
          <p:cNvSpPr/>
          <p:nvPr/>
        </p:nvSpPr>
        <p:spPr>
          <a:xfrm>
            <a:off x="914400" y="4343400"/>
            <a:ext cx="5257800" cy="1234440"/>
          </a:xfrm>
          <a:prstGeom prst="rect">
            <a:avLst/>
          </a:prstGeom>
          <a:noFill/>
          <a:ln/>
        </p:spPr>
        <p:txBody>
          <a:bodyPr wrap="square" lIns="254" tIns="254" rIns="254" bIns="254" rtlCol="0" anchor="t">
            <a:normAutofit/>
          </a:bodyPr>
          <a:lstStyle/>
          <a:p>
            <a:pPr indent="0" marL="0">
              <a:buNone/>
            </a:pPr>
            <a:r>
              <a:rPr lang="en-US" sz="1500" dirty="0">
                <a:solidFill>
                  <a:srgbClr val="000000"/>
                </a:solidFill>
                <a:latin typeface="Aptos" pitchFamily="34" charset="0"/>
                <a:ea typeface="Aptos" pitchFamily="34" charset="-122"/>
                <a:cs typeface="Aptos" pitchFamily="34" charset="-120"/>
              </a:rPr>
              <a:t>• Route based on load and reusable state</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Scale prefill and decode separately</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Offload/recall memory across tiers</a:t>
            </a:r>
            <a:endParaRPr lang="en-US" sz="1500" dirty="0"/>
          </a:p>
          <a:p>
            <a:pPr indent="0" marL="0">
              <a:buNone/>
            </a:pPr>
            <a:r>
              <a:rPr lang="en-US" sz="1500" dirty="0">
                <a:solidFill>
                  <a:srgbClr val="000000"/>
                </a:solidFill>
                <a:latin typeface="Aptos" pitchFamily="34" charset="0"/>
                <a:ea typeface="Aptos" pitchFamily="34" charset="-122"/>
                <a:cs typeface="Aptos" pitchFamily="34" charset="-120"/>
              </a:rPr>
              <a:t>• Coordinate vLLM/TRT-LLM/SGLang across the cluster</a:t>
            </a:r>
            <a:endParaRPr lang="en-US" sz="1500" dirty="0"/>
          </a:p>
        </p:txBody>
      </p:sp>
      <p:sp>
        <p:nvSpPr>
          <p:cNvPr id="10" name="Text 8"/>
          <p:cNvSpPr/>
          <p:nvPr/>
        </p:nvSpPr>
        <p:spPr>
          <a:xfrm>
            <a:off x="6537960" y="4343400"/>
            <a:ext cx="4754880" cy="777240"/>
          </a:xfrm>
          <a:prstGeom prst="rect">
            <a:avLst/>
          </a:prstGeom>
          <a:noFill/>
          <a:ln/>
        </p:spPr>
        <p:txBody>
          <a:bodyPr wrap="square" lIns="635" tIns="635" rIns="635" bIns="635" rtlCol="0" anchor="t">
            <a:normAutofit/>
          </a:bodyPr>
          <a:lstStyle/>
          <a:p>
            <a:pPr algn="l" indent="0" marL="0">
              <a:buNone/>
            </a:pPr>
            <a:r>
              <a:rPr lang="en-US" sz="1700" dirty="0">
                <a:solidFill>
                  <a:srgbClr val="000000"/>
                </a:solidFill>
                <a:latin typeface="Aptos" pitchFamily="34" charset="0"/>
                <a:ea typeface="Aptos" pitchFamily="34" charset="-122"/>
                <a:cs typeface="Aptos" pitchFamily="34" charset="-120"/>
              </a:rPr>
              <a:t>Positioning line: Dynamo is for customers moving from “a model server” to “an inference platform.”</a:t>
            </a:r>
            <a:endParaRPr lang="en-US" sz="1700" dirty="0"/>
          </a:p>
        </p:txBody>
      </p:sp>
      <p:sp>
        <p:nvSpPr>
          <p:cNvPr id="11" name="Text 9"/>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12" name="Text 10"/>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14</a:t>
            </a:r>
            <a:endParaRPr lang="en-US" sz="650" dirty="0"/>
          </a:p>
        </p:txBody>
      </p:sp>
      <p:sp>
        <p:nvSpPr>
          <p:cNvPr id="13" name="Text 11"/>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5486400" cy="228600"/>
          </a:xfrm>
          <a:prstGeom prst="rect">
            <a:avLst/>
          </a:prstGeom>
          <a:noFill/>
          <a:ln/>
        </p:spPr>
        <p:txBody>
          <a:bodyPr wrap="square" lIns="0" tIns="0" rIns="0" bIns="0" rtlCol="0" anchor="ctr"/>
          <a:lstStyle/>
          <a:p>
            <a:pPr indent="0" marL="0">
              <a:buNone/>
            </a:pPr>
            <a:r>
              <a:rPr lang="en-US" sz="750" dirty="0">
                <a:solidFill>
                  <a:srgbClr val="525252"/>
                </a:solidFill>
                <a:latin typeface="Aptos" pitchFamily="34" charset="0"/>
                <a:ea typeface="Aptos" pitchFamily="34" charset="-122"/>
                <a:cs typeface="Aptos" pitchFamily="34" charset="-120"/>
              </a:rPr>
              <a:t>Close</a:t>
            </a:r>
            <a:endParaRPr lang="en-US" sz="750" dirty="0"/>
          </a:p>
        </p:txBody>
      </p:sp>
      <p:sp>
        <p:nvSpPr>
          <p:cNvPr id="3" name="Text 1"/>
          <p:cNvSpPr/>
          <p:nvPr/>
        </p:nvSpPr>
        <p:spPr>
          <a:xfrm>
            <a:off x="502920" y="676656"/>
            <a:ext cx="6949440" cy="804672"/>
          </a:xfrm>
          <a:prstGeom prst="rect">
            <a:avLst/>
          </a:prstGeom>
          <a:noFill/>
          <a:ln/>
        </p:spPr>
        <p:txBody>
          <a:bodyPr wrap="square" lIns="0" tIns="0" rIns="0" bIns="0" rtlCol="0" anchor="ctr">
            <a:normAutofit/>
          </a:bodyPr>
          <a:lstStyle/>
          <a:p>
            <a:pPr indent="0" marL="0">
              <a:buNone/>
            </a:pPr>
            <a:r>
              <a:rPr lang="en-US" sz="3000" dirty="0">
                <a:solidFill>
                  <a:srgbClr val="000000"/>
                </a:solidFill>
                <a:latin typeface="Aptos" pitchFamily="34" charset="0"/>
                <a:ea typeface="Aptos" pitchFamily="34" charset="-122"/>
                <a:cs typeface="Aptos" pitchFamily="34" charset="-120"/>
              </a:rPr>
              <a:t>The architecture story in one minute</a:t>
            </a:r>
            <a:endParaRPr lang="en-US" sz="3000" dirty="0"/>
          </a:p>
        </p:txBody>
      </p:sp>
      <p:sp>
        <p:nvSpPr>
          <p:cNvPr id="4" name="Text 2"/>
          <p:cNvSpPr/>
          <p:nvPr/>
        </p:nvSpPr>
        <p:spPr>
          <a:xfrm>
            <a:off x="685800" y="1691640"/>
            <a:ext cx="10424160" cy="868680"/>
          </a:xfrm>
          <a:prstGeom prst="rect">
            <a:avLst/>
          </a:prstGeom>
          <a:noFill/>
          <a:ln/>
        </p:spPr>
        <p:txBody>
          <a:bodyPr wrap="square" lIns="0" tIns="0" rIns="0" bIns="0" rtlCol="0" anchor="ctr">
            <a:normAutofit/>
          </a:bodyPr>
          <a:lstStyle/>
          <a:p>
            <a:pPr indent="0" marL="0">
              <a:buNone/>
            </a:pPr>
            <a:r>
              <a:rPr lang="en-US" sz="2500" dirty="0">
                <a:solidFill>
                  <a:srgbClr val="000000"/>
                </a:solidFill>
                <a:latin typeface="Aptos" pitchFamily="34" charset="0"/>
                <a:ea typeface="Aptos" pitchFamily="34" charset="-122"/>
                <a:cs typeface="Aptos" pitchFamily="34" charset="-120"/>
              </a:rPr>
              <a:t>Dynamo is not the model. It is the runtime that coordinates how large-scale inference runs.</a:t>
            </a:r>
            <a:endParaRPr lang="en-US" sz="2500" dirty="0"/>
          </a:p>
        </p:txBody>
      </p:sp>
      <p:sp>
        <p:nvSpPr>
          <p:cNvPr id="5" name="Text 3"/>
          <p:cNvSpPr/>
          <p:nvPr/>
        </p:nvSpPr>
        <p:spPr>
          <a:xfrm>
            <a:off x="914400" y="3154680"/>
            <a:ext cx="10058400" cy="160020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Aptos" pitchFamily="34" charset="0"/>
                <a:ea typeface="Aptos" pitchFamily="34" charset="-122"/>
                <a:cs typeface="Aptos" pitchFamily="34" charset="-120"/>
              </a:rPr>
              <a:t>• Request path: frontend + smart router keep live requests moving</a:t>
            </a:r>
            <a:endParaRPr lang="en-US" sz="1700" dirty="0"/>
          </a:p>
          <a:p>
            <a:pPr indent="0" marL="0">
              <a:buNone/>
            </a:pPr>
            <a:r>
              <a:rPr lang="en-US" sz="1700" dirty="0">
                <a:solidFill>
                  <a:srgbClr val="000000"/>
                </a:solidFill>
                <a:latin typeface="Aptos" pitchFamily="34" charset="0"/>
                <a:ea typeface="Aptos" pitchFamily="34" charset="-122"/>
                <a:cs typeface="Aptos" pitchFamily="34" charset="-120"/>
              </a:rPr>
              <a:t>• Control path: Planner adapts capacity and placement as demand changes</a:t>
            </a:r>
            <a:endParaRPr lang="en-US" sz="1700" dirty="0"/>
          </a:p>
          <a:p>
            <a:pPr indent="0" marL="0">
              <a:buNone/>
            </a:pPr>
            <a:r>
              <a:rPr lang="en-US" sz="1700" dirty="0">
                <a:solidFill>
                  <a:srgbClr val="000000"/>
                </a:solidFill>
                <a:latin typeface="Aptos" pitchFamily="34" charset="0"/>
                <a:ea typeface="Aptos" pitchFamily="34" charset="-122"/>
                <a:cs typeface="Aptos" pitchFamily="34" charset="-120"/>
              </a:rPr>
              <a:t>• State path: KVBM + NIXL manage and move reusable KV state</a:t>
            </a:r>
            <a:endParaRPr lang="en-US" sz="1700" dirty="0"/>
          </a:p>
          <a:p>
            <a:pPr indent="0" marL="0">
              <a:buNone/>
            </a:pPr>
            <a:r>
              <a:rPr lang="en-US" sz="1700" dirty="0">
                <a:solidFill>
                  <a:srgbClr val="000000"/>
                </a:solidFill>
                <a:latin typeface="Aptos" pitchFamily="34" charset="0"/>
                <a:ea typeface="Aptos" pitchFamily="34" charset="-122"/>
                <a:cs typeface="Aptos" pitchFamily="34" charset="-120"/>
              </a:rPr>
              <a:t>• Backend engines still execute the model; Dynamo adds the cluster-level orchestration</a:t>
            </a:r>
            <a:endParaRPr lang="en-US" sz="1700" dirty="0"/>
          </a:p>
        </p:txBody>
      </p:sp>
      <p:sp>
        <p:nvSpPr>
          <p:cNvPr id="6" name="Text 4"/>
          <p:cNvSpPr/>
          <p:nvPr/>
        </p:nvSpPr>
        <p:spPr>
          <a:xfrm>
            <a:off x="914400" y="5486400"/>
            <a:ext cx="10058400" cy="411480"/>
          </a:xfrm>
          <a:prstGeom prst="rect">
            <a:avLst/>
          </a:prstGeom>
          <a:noFill/>
          <a:ln/>
        </p:spPr>
        <p:txBody>
          <a:bodyPr wrap="square" lIns="635" tIns="635" rIns="635" bIns="635" rtlCol="0" anchor="t">
            <a:normAutofit/>
          </a:bodyPr>
          <a:lstStyle/>
          <a:p>
            <a:pPr algn="l" indent="0" marL="0">
              <a:buNone/>
            </a:pPr>
            <a:r>
              <a:rPr lang="en-US" sz="1400" dirty="0">
                <a:solidFill>
                  <a:srgbClr val="525252"/>
                </a:solidFill>
                <a:latin typeface="Aptos" pitchFamily="34" charset="0"/>
                <a:ea typeface="Aptos" pitchFamily="34" charset="-122"/>
                <a:cs typeface="Aptos" pitchFamily="34" charset="-120"/>
              </a:rPr>
              <a:t>Suggested handoff: “Now that you understand the architecture wrapper, the next deck goes deeper on the KV cache internals that make this possible.”</a:t>
            </a:r>
            <a:endParaRPr lang="en-US" sz="1400" dirty="0"/>
          </a:p>
        </p:txBody>
      </p:sp>
      <p:sp>
        <p:nvSpPr>
          <p:cNvPr id="7" name="Text 5"/>
          <p:cNvSpPr/>
          <p:nvPr/>
        </p:nvSpPr>
        <p:spPr>
          <a:xfrm>
            <a:off x="502920" y="6510528"/>
            <a:ext cx="7772400" cy="201168"/>
          </a:xfrm>
          <a:prstGeom prst="rect">
            <a:avLst/>
          </a:prstGeom>
          <a:noFill/>
          <a:ln/>
        </p:spPr>
        <p:txBody>
          <a:bodyPr wrap="square" lIns="0" tIns="0" rIns="0" bIns="0" rtlCol="0" anchor="ctr"/>
          <a:lstStyle/>
          <a:p>
            <a:pPr indent="0" marL="0">
              <a:buNone/>
            </a:pPr>
            <a:r>
              <a:rPr lang="en-US" sz="650" dirty="0">
                <a:solidFill>
                  <a:srgbClr val="525252"/>
                </a:solidFill>
                <a:latin typeface="Aptos" pitchFamily="34" charset="0"/>
                <a:ea typeface="Aptos" pitchFamily="34" charset="-122"/>
                <a:cs typeface="Aptos" pitchFamily="34" charset="-120"/>
              </a:rPr>
              <a:t>IBM internal enablement | NVIDIA Dynamo architecture | June 2026</a:t>
            </a:r>
            <a:endParaRPr lang="en-US" sz="650" dirty="0"/>
          </a:p>
        </p:txBody>
      </p:sp>
      <p:sp>
        <p:nvSpPr>
          <p:cNvPr id="8" name="Text 6"/>
          <p:cNvSpPr/>
          <p:nvPr/>
        </p:nvSpPr>
        <p:spPr>
          <a:xfrm>
            <a:off x="11201400" y="6510528"/>
            <a:ext cx="228600" cy="201168"/>
          </a:xfrm>
          <a:prstGeom prst="rect">
            <a:avLst/>
          </a:prstGeom>
          <a:noFill/>
          <a:ln/>
        </p:spPr>
        <p:txBody>
          <a:bodyPr wrap="square" lIns="0" tIns="0" rIns="0" bIns="0" rtlCol="0" anchor="ctr"/>
          <a:lstStyle/>
          <a:p>
            <a:pPr algn="r" indent="0" marL="0">
              <a:buNone/>
            </a:pPr>
            <a:r>
              <a:rPr lang="en-US" sz="650" dirty="0">
                <a:solidFill>
                  <a:srgbClr val="525252"/>
                </a:solidFill>
                <a:latin typeface="Aptos" pitchFamily="34" charset="0"/>
                <a:ea typeface="Aptos" pitchFamily="34" charset="-122"/>
                <a:cs typeface="Aptos" pitchFamily="34" charset="-120"/>
              </a:rPr>
              <a:t>15</a:t>
            </a:r>
            <a:endParaRPr lang="en-US" sz="650" dirty="0"/>
          </a:p>
        </p:txBody>
      </p:sp>
      <p:sp>
        <p:nvSpPr>
          <p:cNvPr id="9" name="Text 7"/>
          <p:cNvSpPr/>
          <p:nvPr/>
        </p:nvSpPr>
        <p:spPr>
          <a:xfrm>
            <a:off x="11731752" y="6483096"/>
            <a:ext cx="320040" cy="219456"/>
          </a:xfrm>
          <a:prstGeom prst="rect">
            <a:avLst/>
          </a:prstGeom>
          <a:noFill/>
          <a:ln/>
        </p:spPr>
        <p:txBody>
          <a:bodyPr wrap="square" lIns="0" tIns="0" rIns="0" bIns="0" rtlCol="0" anchor="ctr"/>
          <a:lstStyle/>
          <a:p>
            <a:pPr algn="r" indent="0" marL="0">
              <a:buNone/>
            </a:pPr>
            <a:r>
              <a:rPr lang="en-US" sz="700" b="1" dirty="0">
                <a:solidFill>
                  <a:srgbClr val="0F62FE"/>
                </a:solidFill>
                <a:latin typeface="Aptos" pitchFamily="34" charset="0"/>
                <a:ea typeface="Aptos" pitchFamily="34" charset="-122"/>
                <a:cs typeface="Aptos" pitchFamily="34" charset="-120"/>
              </a:rPr>
              <a:t>IBM</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NVIDIA Dynamo</dc:title>
  <dc:subject>NVIDIA Dynamo architecture overview for IBM sales enablement</dc:subject>
  <dc:creator>OpenAI</dc:creator>
  <cp:lastModifiedBy>OpenAI</cp:lastModifiedBy>
  <cp:revision>1</cp:revision>
  <dcterms:created xsi:type="dcterms:W3CDTF">2026-06-15T17:22:34Z</dcterms:created>
  <dcterms:modified xsi:type="dcterms:W3CDTF">2026-06-15T17:22:34Z</dcterms:modified>
</cp:coreProperties>
</file>